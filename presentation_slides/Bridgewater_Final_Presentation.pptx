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Pbeh2mOCmSnKTpgHXGiXmYQdP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DC1F19-F9B4-4E21-86D9-F121E86E0A15}">
  <a:tblStyle styleId="{EBDC1F19-F9B4-4E21-86D9-F121E86E0A1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E8853D">
              <a:alpha val="85098"/>
            </a:srgbClr>
          </a:solidFill>
          <a:ln cap="flat" cmpd="sng" w="12700">
            <a:solidFill>
              <a:srgbClr val="E8853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046720" y="2926080"/>
            <a:ext cx="2286000" cy="2286000"/>
          </a:xfrm>
          <a:prstGeom prst="ellipse">
            <a:avLst/>
          </a:prstGeom>
          <a:solidFill>
            <a:srgbClr val="C9952E">
              <a:alpha val="80000"/>
            </a:srgbClr>
          </a:solidFill>
          <a:ln cap="flat" cmpd="sng" w="12700">
            <a:solidFill>
              <a:srgbClr val="C9952E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FOR INFORMATIONAL PURPOSES ONLY  |  MGTA 495 — AI Coworker &amp; Process Redesign  |  June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914400"/>
            <a:ext cx="5943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Bridgewater AI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Coworker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3017520"/>
            <a:ext cx="5120640" cy="36576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48640" y="3127248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Final Presentation — AI-Redesigned Investment Research Workflow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3657600"/>
            <a:ext cx="1188720" cy="822960"/>
          </a:xfrm>
          <a:prstGeom prst="rect">
            <a:avLst/>
          </a:prstGeom>
          <a:solidFill>
            <a:srgbClr val="2A1F5E"/>
          </a:solidFill>
          <a:ln cap="flat" cmpd="sng" w="9525">
            <a:solidFill>
              <a:srgbClr val="4040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548640" y="3703320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77824" y="3694176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Macro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FRED API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77824" y="411480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PUBLIC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920240" y="3657600"/>
            <a:ext cx="1188720" cy="822960"/>
          </a:xfrm>
          <a:prstGeom prst="rect">
            <a:avLst/>
          </a:prstGeom>
          <a:solidFill>
            <a:srgbClr val="2A1F5E"/>
          </a:solidFill>
          <a:ln cap="flat" cmpd="sng" w="9525">
            <a:solidFill>
              <a:srgbClr val="4040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1920240" y="3703320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249424" y="3694176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Filings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SEC-style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2249424" y="411480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SIMULATED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291840" y="3657600"/>
            <a:ext cx="1188720" cy="822960"/>
          </a:xfrm>
          <a:prstGeom prst="rect">
            <a:avLst/>
          </a:prstGeom>
          <a:solidFill>
            <a:srgbClr val="2A1F5E"/>
          </a:solidFill>
          <a:ln cap="flat" cmpd="sng" w="9525">
            <a:solidFill>
              <a:srgbClr val="4040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3291840" y="3703320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3621024" y="3694176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Sentiment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3621024" y="411480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SYNTHETIC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4663440" y="3657600"/>
            <a:ext cx="1188720" cy="822960"/>
          </a:xfrm>
          <a:prstGeom prst="rect">
            <a:avLst/>
          </a:prstGeom>
          <a:solidFill>
            <a:srgbClr val="2A1F5E"/>
          </a:solidFill>
          <a:ln cap="flat" cmpd="sng" w="9525">
            <a:solidFill>
              <a:srgbClr val="4040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4663440" y="3703320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4992624" y="3694176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Scenarios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Stress tests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4992624" y="411480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SYNTHETIC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54864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Andy Liu  ·  Will Zheng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E8853D">
              <a:alpha val="45098"/>
            </a:srgbClr>
          </a:solidFill>
          <a:ln cap="flat" cmpd="sng" w="12700">
            <a:solidFill>
              <a:srgbClr val="E8853D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8229600" y="3200400"/>
            <a:ext cx="1828800" cy="1828800"/>
          </a:xfrm>
          <a:prstGeom prst="ellipse">
            <a:avLst/>
          </a:prstGeom>
          <a:solidFill>
            <a:srgbClr val="C9952E">
              <a:alpha val="40000"/>
            </a:srgbClr>
          </a:solidFill>
          <a:ln cap="flat" cmpd="sng" w="12700">
            <a:solidFill>
              <a:srgbClr val="C9952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57200" y="59436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Why Bridgewater Associates?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57200" y="1234440"/>
            <a:ext cx="1783080" cy="8686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57200" y="1261872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$140B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7200" y="164592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Assets Under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2377440" y="1234440"/>
            <a:ext cx="1783080" cy="8686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2377440" y="1261872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1,300+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2377440" y="164592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Employees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Worldwide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297680" y="1234440"/>
            <a:ext cx="1783080" cy="8686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297680" y="1261872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1975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297680" y="164592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57200" y="2240280"/>
            <a:ext cx="2697480" cy="1417320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57200" y="2240280"/>
            <a:ext cx="64008" cy="1417320"/>
          </a:xfrm>
          <a:prstGeom prst="rect">
            <a:avLst/>
          </a:prstGeom>
          <a:solidFill>
            <a:srgbClr val="5B3D9E"/>
          </a:solidFill>
          <a:ln cap="flat" cmpd="sng" w="12700">
            <a:solidFill>
              <a:srgbClr val="5B3D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585216" y="2304288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Deep Research History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85216" y="2606040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Since 1975, Bridgewater has pioneered principles-based macro analysis across 100+ countries, building proprietary quantitative models and rigorous economic frameworks.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3337560" y="2240280"/>
            <a:ext cx="2697480" cy="1417320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3337560" y="2240280"/>
            <a:ext cx="64008" cy="1417320"/>
          </a:xfrm>
          <a:prstGeom prst="rect">
            <a:avLst/>
          </a:prstGeom>
          <a:solidFill>
            <a:srgbClr val="5B3D9E"/>
          </a:solidFill>
          <a:ln cap="flat" cmpd="sng" w="12700">
            <a:solidFill>
              <a:srgbClr val="5B3D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3465576" y="2304288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Systematic Logic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3465576" y="2606040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Investment rules are codified and applied consistently through quantitative models — the same logic AI tools will learn to support and accelerate.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217920" y="2240280"/>
            <a:ext cx="2697480" cy="1417320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6217920" y="2240280"/>
            <a:ext cx="64008" cy="1417320"/>
          </a:xfrm>
          <a:prstGeom prst="rect">
            <a:avLst/>
          </a:prstGeom>
          <a:solidFill>
            <a:srgbClr val="5B3D9E"/>
          </a:solidFill>
          <a:ln cap="flat" cmpd="sng" w="12700">
            <a:solidFill>
              <a:srgbClr val="5B3D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6345936" y="2304288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Radical Transparency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345936" y="2606040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All decisions are openly debated across firm levels, creating rich documentation that serves as a data source for AI training and validation.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57200" y="3749040"/>
            <a:ext cx="8046720" cy="7772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457200" y="3749040"/>
            <a:ext cx="82296" cy="777240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621792" y="379476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Project Goal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21792" y="4059936"/>
            <a:ext cx="7818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Redesign Bridgewater's investment research workflow using an AI coworker that assists human analysts — not an autonomous trading system. Human remains the final decision-maker at every gate.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MGTA 495  ·  Bridgewater AI Research Coworker  ·  Andy Liu · Will Zheng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E8853D">
              <a:alpha val="45098"/>
            </a:srgbClr>
          </a:solidFill>
          <a:ln cap="flat" cmpd="sng" w="12700">
            <a:solidFill>
              <a:srgbClr val="E8853D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8229600" y="3200400"/>
            <a:ext cx="1828800" cy="1828800"/>
          </a:xfrm>
          <a:prstGeom prst="ellipse">
            <a:avLst/>
          </a:prstGeom>
          <a:solidFill>
            <a:srgbClr val="C9952E">
              <a:alpha val="40000"/>
            </a:srgbClr>
          </a:solidFill>
          <a:ln cap="flat" cmpd="sng" w="12700">
            <a:solidFill>
              <a:srgbClr val="C9952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CURRENT PROCESS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Current Investment Research Workflow — As-Is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57200" y="10241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13 Steps  ·  4 Roles  ·  3 Decision Gates  ·  Before AI Integration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57200" y="1353312"/>
            <a:ext cx="896112" cy="658368"/>
          </a:xfrm>
          <a:prstGeom prst="rect">
            <a:avLst/>
          </a:prstGeom>
          <a:solidFill>
            <a:srgbClr val="4A3080"/>
          </a:solidFill>
          <a:ln cap="flat" cmpd="sng" w="12700">
            <a:solidFill>
              <a:srgbClr val="4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457200" y="1353312"/>
            <a:ext cx="89611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Junior Analyst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89888" y="1426464"/>
            <a:ext cx="1051560" cy="512064"/>
          </a:xfrm>
          <a:prstGeom prst="rect">
            <a:avLst/>
          </a:prstGeom>
          <a:solidFill>
            <a:srgbClr val="4A3080">
              <a:alpha val="80000"/>
            </a:srgbClr>
          </a:solidFill>
          <a:ln cap="flat" cmpd="sng" w="9525">
            <a:solidFill>
              <a:srgbClr val="4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1389888" y="1444752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389888" y="162763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Receive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Assignment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2532888" y="1426464"/>
            <a:ext cx="1051560" cy="512064"/>
          </a:xfrm>
          <a:prstGeom prst="rect">
            <a:avLst/>
          </a:prstGeom>
          <a:solidFill>
            <a:srgbClr val="4A3080">
              <a:alpha val="80000"/>
            </a:srgbClr>
          </a:solidFill>
          <a:ln cap="flat" cmpd="sng" w="9525">
            <a:solidFill>
              <a:srgbClr val="4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2532888" y="1444752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2532888" y="162763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Macro Data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675888" y="1426464"/>
            <a:ext cx="1051560" cy="512064"/>
          </a:xfrm>
          <a:prstGeom prst="rect">
            <a:avLst/>
          </a:prstGeom>
          <a:solidFill>
            <a:srgbClr val="4A3080">
              <a:alpha val="80000"/>
            </a:srgbClr>
          </a:solidFill>
          <a:ln cap="flat" cmpd="sng" w="9525">
            <a:solidFill>
              <a:srgbClr val="4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3675888" y="1444752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3675888" y="162763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Compile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Indicators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818888" y="1426464"/>
            <a:ext cx="1051560" cy="512064"/>
          </a:xfrm>
          <a:prstGeom prst="rect">
            <a:avLst/>
          </a:prstGeom>
          <a:solidFill>
            <a:srgbClr val="4A3080">
              <a:alpha val="80000"/>
            </a:srgbClr>
          </a:solidFill>
          <a:ln cap="flat" cmpd="sng" w="9525">
            <a:solidFill>
              <a:srgbClr val="4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818888" y="1444752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818888" y="162763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Excel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57200" y="2048256"/>
            <a:ext cx="896112" cy="658368"/>
          </a:xfrm>
          <a:prstGeom prst="rect">
            <a:avLst/>
          </a:prstGeom>
          <a:solidFill>
            <a:srgbClr val="2E5EA0"/>
          </a:solidFill>
          <a:ln cap="flat" cmpd="sng" w="12700">
            <a:solidFill>
              <a:srgbClr val="2E5E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457200" y="2048256"/>
            <a:ext cx="89611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Senior Analyst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389888" y="2121408"/>
            <a:ext cx="1051560" cy="512064"/>
          </a:xfrm>
          <a:prstGeom prst="rect">
            <a:avLst/>
          </a:prstGeom>
          <a:solidFill>
            <a:srgbClr val="2E5EA0">
              <a:alpha val="80000"/>
            </a:srgbClr>
          </a:solidFill>
          <a:ln cap="flat" cmpd="sng" w="9525">
            <a:solidFill>
              <a:srgbClr val="2E5E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1389888" y="2139696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389888" y="2322576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2532888" y="2121408"/>
            <a:ext cx="1051560" cy="512064"/>
          </a:xfrm>
          <a:prstGeom prst="rect">
            <a:avLst/>
          </a:prstGeom>
          <a:solidFill>
            <a:srgbClr val="2E5EA0">
              <a:alpha val="80000"/>
            </a:srgbClr>
          </a:solidFill>
          <a:ln cap="flat" cmpd="sng" w="9525">
            <a:solidFill>
              <a:srgbClr val="2E5E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2532888" y="2139696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2532888" y="2322576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Economic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3675888" y="2121408"/>
            <a:ext cx="1051560" cy="512064"/>
          </a:xfrm>
          <a:prstGeom prst="rect">
            <a:avLst/>
          </a:prstGeom>
          <a:solidFill>
            <a:srgbClr val="2E5EA0">
              <a:alpha val="80000"/>
            </a:srgbClr>
          </a:solidFill>
          <a:ln cap="flat" cmpd="sng" w="9525">
            <a:solidFill>
              <a:srgbClr val="2E5E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3675888" y="2139696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⑦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3675888" y="2322576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 Investment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Thesis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818888" y="2121408"/>
            <a:ext cx="1051560" cy="512064"/>
          </a:xfrm>
          <a:prstGeom prst="rect">
            <a:avLst/>
          </a:prstGeom>
          <a:solidFill>
            <a:srgbClr val="2E5EA0">
              <a:alpha val="80000"/>
            </a:srgbClr>
          </a:solidFill>
          <a:ln cap="flat" cmpd="sng" w="9525">
            <a:solidFill>
              <a:srgbClr val="2E5E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4818888" y="2139696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⑧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818888" y="2322576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Idea (L/S)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961888" y="2121408"/>
            <a:ext cx="1051560" cy="512064"/>
          </a:xfrm>
          <a:prstGeom prst="rect">
            <a:avLst/>
          </a:prstGeom>
          <a:solidFill>
            <a:srgbClr val="B03030"/>
          </a:solidFill>
          <a:ln cap="flat" cmpd="sng" w="9525">
            <a:solidFill>
              <a:srgbClr val="B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5961888" y="2139696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961888" y="2322576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Thesis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Strong?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457200" y="2743200"/>
            <a:ext cx="896112" cy="658368"/>
          </a:xfrm>
          <a:prstGeom prst="rect">
            <a:avLst/>
          </a:prstGeom>
          <a:solidFill>
            <a:srgbClr val="B05520"/>
          </a:solidFill>
          <a:ln cap="flat" cmpd="sng" w="12700">
            <a:solidFill>
              <a:srgbClr val="B05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457200" y="2743200"/>
            <a:ext cx="89611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Team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1389888" y="2816352"/>
            <a:ext cx="1051560" cy="512064"/>
          </a:xfrm>
          <a:prstGeom prst="rect">
            <a:avLst/>
          </a:prstGeom>
          <a:solidFill>
            <a:srgbClr val="B05520">
              <a:alpha val="80000"/>
            </a:srgbClr>
          </a:solidFill>
          <a:ln cap="flat" cmpd="sng" w="9525">
            <a:solidFill>
              <a:srgbClr val="B05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1389888" y="2834640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⑨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1389888" y="301752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 Risk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2532888" y="2816352"/>
            <a:ext cx="1051560" cy="512064"/>
          </a:xfrm>
          <a:prstGeom prst="rect">
            <a:avLst/>
          </a:prstGeom>
          <a:solidFill>
            <a:srgbClr val="B05520">
              <a:alpha val="80000"/>
            </a:srgbClr>
          </a:solidFill>
          <a:ln cap="flat" cmpd="sng" w="9525">
            <a:solidFill>
              <a:srgbClr val="B05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2532888" y="2834640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2532888" y="301752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 Stress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3675888" y="2816352"/>
            <a:ext cx="1051560" cy="512064"/>
          </a:xfrm>
          <a:prstGeom prst="rect">
            <a:avLst/>
          </a:prstGeom>
          <a:solidFill>
            <a:srgbClr val="B03030"/>
          </a:solidFill>
          <a:ln cap="flat" cmpd="sng" w="9525">
            <a:solidFill>
              <a:srgbClr val="B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3675888" y="2834640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3675888" y="301752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Approved?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457200" y="3438144"/>
            <a:ext cx="896112" cy="658368"/>
          </a:xfrm>
          <a:prstGeom prst="rect">
            <a:avLst/>
          </a:prstGeom>
          <a:solidFill>
            <a:srgbClr val="1A7050"/>
          </a:solidFill>
          <a:ln cap="flat" cmpd="sng" w="12700">
            <a:solidFill>
              <a:srgbClr val="1A7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457200" y="3438144"/>
            <a:ext cx="89611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Portfolio Manager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1389888" y="3511296"/>
            <a:ext cx="1051560" cy="512064"/>
          </a:xfrm>
          <a:prstGeom prst="rect">
            <a:avLst/>
          </a:prstGeom>
          <a:solidFill>
            <a:srgbClr val="1A7050">
              <a:alpha val="80000"/>
            </a:srgbClr>
          </a:solidFill>
          <a:ln cap="flat" cmpd="sng" w="9525">
            <a:solidFill>
              <a:srgbClr val="1A7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1389888" y="3529584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⑪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1389888" y="3712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Proposal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2532888" y="3511296"/>
            <a:ext cx="1051560" cy="512064"/>
          </a:xfrm>
          <a:prstGeom prst="rect">
            <a:avLst/>
          </a:prstGeom>
          <a:solidFill>
            <a:srgbClr val="1A7050">
              <a:alpha val="80000"/>
            </a:srgbClr>
          </a:solidFill>
          <a:ln cap="flat" cmpd="sng" w="9525">
            <a:solidFill>
              <a:srgbClr val="1A7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2532888" y="3529584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⑫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2532888" y="3712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Authorize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3675888" y="3511296"/>
            <a:ext cx="1051560" cy="512064"/>
          </a:xfrm>
          <a:prstGeom prst="rect">
            <a:avLst/>
          </a:prstGeom>
          <a:solidFill>
            <a:srgbClr val="1A7050">
              <a:alpha val="80000"/>
            </a:srgbClr>
          </a:solidFill>
          <a:ln cap="flat" cmpd="sng" w="9525">
            <a:solidFill>
              <a:srgbClr val="1A7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3675888" y="3529584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3675888" y="3712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4818888" y="3511296"/>
            <a:ext cx="1051560" cy="512064"/>
          </a:xfrm>
          <a:prstGeom prst="rect">
            <a:avLst/>
          </a:prstGeom>
          <a:solidFill>
            <a:srgbClr val="B03030"/>
          </a:solidFill>
          <a:ln cap="flat" cmpd="sng" w="9525">
            <a:solidFill>
              <a:srgbClr val="B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4818888" y="3529584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4818888" y="37124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Trade?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457200" y="4096512"/>
            <a:ext cx="8046720" cy="640080"/>
          </a:xfrm>
          <a:prstGeom prst="rect">
            <a:avLst/>
          </a:prstGeom>
          <a:solidFill>
            <a:srgbClr val="FFF3F0"/>
          </a:solidFill>
          <a:ln cap="flat" cmpd="sng" w="9525">
            <a:solidFill>
              <a:srgbClr val="FFBB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457200" y="4096512"/>
            <a:ext cx="82296" cy="640080"/>
          </a:xfrm>
          <a:prstGeom prst="rect">
            <a:avLst/>
          </a:prstGeom>
          <a:solidFill>
            <a:srgbClr val="B03030"/>
          </a:solidFill>
          <a:ln cap="flat" cmpd="sng" w="12700">
            <a:solidFill>
              <a:srgbClr val="B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621792" y="41330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03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03030"/>
                </a:solidFill>
                <a:latin typeface="Calibri"/>
                <a:ea typeface="Calibri"/>
                <a:cs typeface="Calibri"/>
                <a:sym typeface="Calibri"/>
              </a:rPr>
              <a:t>Key Inefficiencies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621792" y="4334256"/>
            <a:ext cx="7818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B202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2020"/>
                </a:solidFill>
                <a:latin typeface="Calibri"/>
                <a:ea typeface="Calibri"/>
                <a:cs typeface="Calibri"/>
                <a:sym typeface="Calibri"/>
              </a:rPr>
              <a:t>4–7 hrs manual data collection per cycle  ·  Email-driven handoffs with no audit trail  ·  Only 20 pre-defined stress scenarios  ·  Reactive monitoring — no anomaly detection  ·  ~5–10% manual data error rate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MGTA 495  ·  Bridgewater AI Research Coworker  ·  Andy Liu · Will Zheng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E8853D">
              <a:alpha val="45098"/>
            </a:srgbClr>
          </a:solidFill>
          <a:ln cap="flat" cmpd="sng" w="12700">
            <a:solidFill>
              <a:srgbClr val="E8853D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8229600" y="3200400"/>
            <a:ext cx="1828800" cy="1828800"/>
          </a:xfrm>
          <a:prstGeom prst="ellipse">
            <a:avLst/>
          </a:prstGeom>
          <a:solidFill>
            <a:srgbClr val="C9952E">
              <a:alpha val="40000"/>
            </a:srgbClr>
          </a:solidFill>
          <a:ln cap="flat" cmpd="sng" w="12700">
            <a:solidFill>
              <a:srgbClr val="C9952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REDESIGN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AI-Enhanced Investment Research Process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457200" y="1051560"/>
            <a:ext cx="164592" cy="164592"/>
          </a:xfrm>
          <a:prstGeom prst="rect">
            <a:avLst/>
          </a:prstGeom>
          <a:solidFill>
            <a:srgbClr val="3B6EA5"/>
          </a:solidFill>
          <a:ln cap="flat" cmpd="sng" w="12700">
            <a:solidFill>
              <a:srgbClr val="3B6E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658368" y="1033272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Human-Driven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2468880" y="1051560"/>
            <a:ext cx="164592" cy="164592"/>
          </a:xfrm>
          <a:prstGeom prst="rect">
            <a:avLst/>
          </a:prstGeom>
          <a:solidFill>
            <a:srgbClr val="2E7D52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2670048" y="1033272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AI-Automated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4480560" y="1051560"/>
            <a:ext cx="164592" cy="164592"/>
          </a:xfrm>
          <a:prstGeom prst="rect">
            <a:avLst/>
          </a:prstGeom>
          <a:solidFill>
            <a:srgbClr val="B06A10"/>
          </a:solidFill>
          <a:ln cap="flat" cmpd="sng" w="12700">
            <a:solidFill>
              <a:srgbClr val="B06A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4681728" y="1033272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Human/AI Collab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6492240" y="1051560"/>
            <a:ext cx="164592" cy="164592"/>
          </a:xfrm>
          <a:prstGeom prst="rect">
            <a:avLst/>
          </a:prstGeom>
          <a:solidFill>
            <a:srgbClr val="B03030"/>
          </a:solidFill>
          <a:ln cap="flat" cmpd="sng" w="12700">
            <a:solidFill>
              <a:srgbClr val="B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6693408" y="1033272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Human Checkpoint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457200" y="1298448"/>
            <a:ext cx="841248" cy="621792"/>
          </a:xfrm>
          <a:prstGeom prst="rect">
            <a:avLst/>
          </a:prstGeom>
          <a:solidFill>
            <a:srgbClr val="4A3080"/>
          </a:solidFill>
          <a:ln cap="flat" cmpd="sng" w="12700">
            <a:solidFill>
              <a:srgbClr val="4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457200" y="1298448"/>
            <a:ext cx="84124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Junior Analyst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2139696" y="1371600"/>
            <a:ext cx="914400" cy="475488"/>
          </a:xfrm>
          <a:prstGeom prst="rect">
            <a:avLst/>
          </a:prstGeom>
          <a:solidFill>
            <a:srgbClr val="3B6EA5">
              <a:alpha val="74901"/>
            </a:srgbClr>
          </a:solidFill>
          <a:ln cap="flat" cmpd="sng" w="9525">
            <a:solidFill>
              <a:srgbClr val="3B6E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2139696" y="138988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2139696" y="15544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Receive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Assignment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3127248" y="1371600"/>
            <a:ext cx="914400" cy="475488"/>
          </a:xfrm>
          <a:prstGeom prst="rect">
            <a:avLst/>
          </a:prstGeom>
          <a:solidFill>
            <a:srgbClr val="2E7D52">
              <a:alpha val="74901"/>
            </a:srgbClr>
          </a:solidFill>
          <a:ln cap="flat" cmpd="sng" w="9525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3127248" y="138988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3127248" y="15544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Macro Data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4114800" y="1371600"/>
            <a:ext cx="914400" cy="475488"/>
          </a:xfrm>
          <a:prstGeom prst="rect">
            <a:avLst/>
          </a:prstGeom>
          <a:solidFill>
            <a:srgbClr val="2E7D52">
              <a:alpha val="74901"/>
            </a:srgbClr>
          </a:solidFill>
          <a:ln cap="flat" cmpd="sng" w="9525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4114800" y="138988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4114800" y="15544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Compile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Indicators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5102352" y="1371600"/>
            <a:ext cx="914400" cy="475488"/>
          </a:xfrm>
          <a:prstGeom prst="rect">
            <a:avLst/>
          </a:prstGeom>
          <a:solidFill>
            <a:srgbClr val="B06A10">
              <a:alpha val="74901"/>
            </a:srgbClr>
          </a:solidFill>
          <a:ln cap="flat" cmpd="sng" w="9525">
            <a:solidFill>
              <a:srgbClr val="B06A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5102352" y="138988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5102352" y="15544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Financial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457200" y="1956816"/>
            <a:ext cx="841248" cy="621792"/>
          </a:xfrm>
          <a:prstGeom prst="rect">
            <a:avLst/>
          </a:prstGeom>
          <a:solidFill>
            <a:srgbClr val="2E5EA0"/>
          </a:solidFill>
          <a:ln cap="flat" cmpd="sng" w="12700">
            <a:solidFill>
              <a:srgbClr val="2E5E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457200" y="1956816"/>
            <a:ext cx="84124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Senior Analyst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2139696" y="2029968"/>
            <a:ext cx="914400" cy="475488"/>
          </a:xfrm>
          <a:prstGeom prst="rect">
            <a:avLst/>
          </a:prstGeom>
          <a:solidFill>
            <a:srgbClr val="B03030"/>
          </a:solidFill>
          <a:ln cap="flat" cmpd="sng" w="19050">
            <a:solidFill>
              <a:srgbClr val="B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2139696" y="2048256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2139696" y="22128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Quality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3127248" y="2029968"/>
            <a:ext cx="914400" cy="475488"/>
          </a:xfrm>
          <a:prstGeom prst="rect">
            <a:avLst/>
          </a:prstGeom>
          <a:solidFill>
            <a:srgbClr val="B06A10">
              <a:alpha val="74901"/>
            </a:srgbClr>
          </a:solidFill>
          <a:ln cap="flat" cmpd="sng" w="9525">
            <a:solidFill>
              <a:srgbClr val="B06A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3127248" y="2048256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3127248" y="22128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Economic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4114800" y="2029968"/>
            <a:ext cx="914400" cy="475488"/>
          </a:xfrm>
          <a:prstGeom prst="rect">
            <a:avLst/>
          </a:prstGeom>
          <a:solidFill>
            <a:srgbClr val="B06A10">
              <a:alpha val="74901"/>
            </a:srgbClr>
          </a:solidFill>
          <a:ln cap="flat" cmpd="sng" w="9525">
            <a:solidFill>
              <a:srgbClr val="B06A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4114800" y="2048256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⑦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4114800" y="22128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 Investment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Thesis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5102352" y="2029968"/>
            <a:ext cx="914400" cy="475488"/>
          </a:xfrm>
          <a:prstGeom prst="rect">
            <a:avLst/>
          </a:prstGeom>
          <a:solidFill>
            <a:srgbClr val="B06A10">
              <a:alpha val="74901"/>
            </a:srgbClr>
          </a:solidFill>
          <a:ln cap="flat" cmpd="sng" w="9525">
            <a:solidFill>
              <a:srgbClr val="B06A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5102352" y="2048256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⑧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5102352" y="22128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Idea (L/S)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6089904" y="2029968"/>
            <a:ext cx="914400" cy="475488"/>
          </a:xfrm>
          <a:prstGeom prst="rect">
            <a:avLst/>
          </a:prstGeom>
          <a:solidFill>
            <a:srgbClr val="B03030"/>
          </a:solidFill>
          <a:ln cap="flat" cmpd="sng" w="19050">
            <a:solidFill>
              <a:srgbClr val="B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6089904" y="2048256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⚑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6089904" y="22128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Thesis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Strong?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457200" y="2615184"/>
            <a:ext cx="841248" cy="621792"/>
          </a:xfrm>
          <a:prstGeom prst="rect">
            <a:avLst/>
          </a:prstGeom>
          <a:solidFill>
            <a:srgbClr val="B05520"/>
          </a:solidFill>
          <a:ln cap="flat" cmpd="sng" w="12700">
            <a:solidFill>
              <a:srgbClr val="B05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457200" y="2615184"/>
            <a:ext cx="84124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Team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2139696" y="2688336"/>
            <a:ext cx="914400" cy="475488"/>
          </a:xfrm>
          <a:prstGeom prst="rect">
            <a:avLst/>
          </a:prstGeom>
          <a:solidFill>
            <a:srgbClr val="2E7D52">
              <a:alpha val="74901"/>
            </a:srgbClr>
          </a:solidFill>
          <a:ln cap="flat" cmpd="sng" w="9525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2139696" y="270662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⑨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2139696" y="287121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 Risk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Params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3127248" y="2688336"/>
            <a:ext cx="914400" cy="475488"/>
          </a:xfrm>
          <a:prstGeom prst="rect">
            <a:avLst/>
          </a:prstGeom>
          <a:solidFill>
            <a:srgbClr val="2E7D52">
              <a:alpha val="74901"/>
            </a:srgbClr>
          </a:solidFill>
          <a:ln cap="flat" cmpd="sng" w="9525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3127248" y="270662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3127248" y="287121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 Portfolio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Stress Tests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4114800" y="2688336"/>
            <a:ext cx="914400" cy="475488"/>
          </a:xfrm>
          <a:prstGeom prst="rect">
            <a:avLst/>
          </a:prstGeom>
          <a:solidFill>
            <a:srgbClr val="B03030"/>
          </a:solidFill>
          <a:ln cap="flat" cmpd="sng" w="19050">
            <a:solidFill>
              <a:srgbClr val="B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4114800" y="270662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⚑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4114800" y="287121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Approved?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457200" y="3273552"/>
            <a:ext cx="841248" cy="621792"/>
          </a:xfrm>
          <a:prstGeom prst="rect">
            <a:avLst/>
          </a:prstGeom>
          <a:solidFill>
            <a:srgbClr val="1A7050"/>
          </a:solidFill>
          <a:ln cap="flat" cmpd="sng" w="12700">
            <a:solidFill>
              <a:srgbClr val="1A7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457200" y="3273552"/>
            <a:ext cx="84124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Portfolio Manager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2139696" y="3346704"/>
            <a:ext cx="914400" cy="475488"/>
          </a:xfrm>
          <a:prstGeom prst="rect">
            <a:avLst/>
          </a:prstGeom>
          <a:solidFill>
            <a:srgbClr val="B03030"/>
          </a:solidFill>
          <a:ln cap="flat" cmpd="sng" w="19050">
            <a:solidFill>
              <a:srgbClr val="B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2139696" y="33649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⑪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2139696" y="352958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 Full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Proposal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3127248" y="3346704"/>
            <a:ext cx="914400" cy="475488"/>
          </a:xfrm>
          <a:prstGeom prst="rect">
            <a:avLst/>
          </a:prstGeom>
          <a:solidFill>
            <a:srgbClr val="B03030"/>
          </a:solidFill>
          <a:ln cap="flat" cmpd="sng" w="19050">
            <a:solidFill>
              <a:srgbClr val="B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"/>
          <p:cNvSpPr/>
          <p:nvPr/>
        </p:nvSpPr>
        <p:spPr>
          <a:xfrm>
            <a:off x="3127248" y="33649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⑫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3127248" y="352958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Authorize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4114800" y="3346704"/>
            <a:ext cx="914400" cy="475488"/>
          </a:xfrm>
          <a:prstGeom prst="rect">
            <a:avLst/>
          </a:prstGeom>
          <a:solidFill>
            <a:srgbClr val="2E7D52">
              <a:alpha val="74901"/>
            </a:srgbClr>
          </a:solidFill>
          <a:ln cap="flat" cmpd="sng" w="9525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"/>
          <p:cNvSpPr/>
          <p:nvPr/>
        </p:nvSpPr>
        <p:spPr>
          <a:xfrm>
            <a:off x="4114800" y="33649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4114800" y="352958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457200" y="4251960"/>
            <a:ext cx="8046720" cy="47548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"/>
          <p:cNvSpPr/>
          <p:nvPr/>
        </p:nvSpPr>
        <p:spPr>
          <a:xfrm>
            <a:off x="548640" y="4279392"/>
            <a:ext cx="7863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38% of steps AI-automated  ·  All 3 original decision gates preserved as human checkpoints  ·  Trade authorization (step ⑫) stays 100% human  ·  AI never makes a final judgment call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MGTA 495  ·  Bridgewater AI Research Coworker  ·  Andy Liu · Will Zheng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E8853D">
              <a:alpha val="45098"/>
            </a:srgbClr>
          </a:solidFill>
          <a:ln cap="flat" cmpd="sng" w="12700">
            <a:solidFill>
              <a:srgbClr val="E8853D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"/>
          <p:cNvSpPr/>
          <p:nvPr/>
        </p:nvSpPr>
        <p:spPr>
          <a:xfrm>
            <a:off x="8229600" y="3200400"/>
            <a:ext cx="1828800" cy="1828800"/>
          </a:xfrm>
          <a:prstGeom prst="ellipse">
            <a:avLst/>
          </a:prstGeom>
          <a:solidFill>
            <a:srgbClr val="C9952E">
              <a:alpha val="40000"/>
            </a:srgbClr>
          </a:solidFill>
          <a:ln cap="flat" cmpd="sng" w="12700">
            <a:solidFill>
              <a:srgbClr val="C9952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Time, Cost &amp; Quality Improvements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457200" y="1097280"/>
            <a:ext cx="1920240" cy="10058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457200" y="1143000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85%↓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57200" y="1709928"/>
            <a:ext cx="19202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2560320" y="1097280"/>
            <a:ext cx="1920240" cy="10058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5"/>
          <p:cNvSpPr/>
          <p:nvPr/>
        </p:nvSpPr>
        <p:spPr>
          <a:xfrm>
            <a:off x="2560320" y="1143000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25×↑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2560320" y="1709928"/>
            <a:ext cx="19202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Stress test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scenarios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4663440" y="1097280"/>
            <a:ext cx="1920240" cy="10058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4663440" y="1143000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57%↓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4663440" y="1709928"/>
            <a:ext cx="19202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research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cycle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6766560" y="1097280"/>
            <a:ext cx="1920240" cy="10058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"/>
          <p:cNvSpPr/>
          <p:nvPr/>
        </p:nvSpPr>
        <p:spPr>
          <a:xfrm>
            <a:off x="6766560" y="1143000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90%↓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6766560" y="1709928"/>
            <a:ext cx="19202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PM briefing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 time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3" name="Google Shape;243;p5"/>
          <p:cNvGraphicFramePr/>
          <p:nvPr/>
        </p:nvGraphicFramePr>
        <p:xfrm>
          <a:off x="457200" y="22128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{EBDC1F19-F9B4-4E21-86D9-F121E86E0A15}</a:tableStyleId>
              </a:tblPr>
              <a:tblGrid>
                <a:gridCol w="2194550"/>
                <a:gridCol w="1828800"/>
                <a:gridCol w="2286000"/>
                <a:gridCol w="10058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8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Current Baseline</a:t>
                      </a:r>
                      <a:endParaRPr sz="8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With AI Coworker</a:t>
                      </a:r>
                      <a:endParaRPr sz="8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Impact</a:t>
                      </a:r>
                      <a:endParaRPr sz="8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Data Collection Time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2–3 hours / cycle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&lt; 15 min / cycle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B3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A6B30"/>
                          </a:solidFill>
                        </a:rPr>
                        <a:t>↓ 85%+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Stress Test Scenarios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10–20 pre-defined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500+ dynamic scenarios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B3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A6B30"/>
                          </a:solidFill>
                        </a:rPr>
                        <a:t>↑ 25×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4F8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Full Research Cycle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5–7 business days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2–3 business days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B3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A6B30"/>
                          </a:solidFill>
                        </a:rPr>
                        <a:t>↓ 57%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Data Error Rate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~5–10% manual errors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&lt; 1% (anomaly detection)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B3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A6B30"/>
                          </a:solidFill>
                        </a:rPr>
                        <a:t>↓ 85%+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4F8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PM Briefing Prep Time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1–2 hours manual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&lt; 10 min AI-generated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B3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A6B30"/>
                          </a:solidFill>
                        </a:rPr>
                        <a:t>↓ 90%+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4" name="Google Shape;244;p5"/>
          <p:cNvSpPr/>
          <p:nvPr/>
        </p:nvSpPr>
        <p:spPr>
          <a:xfrm>
            <a:off x="457200" y="404164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650"/>
              <a:buFont typeface="Calibri"/>
              <a:buNone/>
            </a:pPr>
            <a:r>
              <a:rPr b="0" i="1" lang="en-US" sz="65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Estimates based on published benchmarks from Man Group, Arootah, Carta (2024–25). Not live production results.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MGTA 495  ·  Bridgewater AI Research Coworker  ·  Andy Liu · Will Zheng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E8853D">
              <a:alpha val="45098"/>
            </a:srgbClr>
          </a:solidFill>
          <a:ln cap="flat" cmpd="sng" w="12700">
            <a:solidFill>
              <a:srgbClr val="E8853D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8229600" y="3200400"/>
            <a:ext cx="1828800" cy="1828800"/>
          </a:xfrm>
          <a:prstGeom prst="ellipse">
            <a:avLst/>
          </a:prstGeom>
          <a:solidFill>
            <a:srgbClr val="C9952E">
              <a:alpha val="40000"/>
            </a:srgbClr>
          </a:solidFill>
          <a:ln cap="flat" cmpd="sng" w="12700">
            <a:solidFill>
              <a:srgbClr val="C9952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System Architecture — How the AI Coworker Works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365760" y="1234440"/>
            <a:ext cx="1572768" cy="1371600"/>
          </a:xfrm>
          <a:prstGeom prst="rect">
            <a:avLst/>
          </a:prstGeom>
          <a:solidFill>
            <a:srgbClr val="3B5998"/>
          </a:solidFill>
          <a:ln cap="flat" cmpd="sng" w="12700">
            <a:solidFill>
              <a:srgbClr val="3B59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365760" y="129844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475488" y="1645920"/>
            <a:ext cx="1353312" cy="18288"/>
          </a:xfrm>
          <a:prstGeom prst="rect">
            <a:avLst/>
          </a:prstGeom>
          <a:solidFill>
            <a:srgbClr val="FFFFFF">
              <a:alpha val="50196"/>
            </a:srgbClr>
          </a:solidFill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"/>
          <p:cNvSpPr/>
          <p:nvPr/>
        </p:nvSpPr>
        <p:spPr>
          <a:xfrm>
            <a:off x="365760" y="1691640"/>
            <a:ext cx="157276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FRED API · SEC Filings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News Sentiment · Scenarios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1965960" y="1865376"/>
            <a:ext cx="73152" cy="73152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"/>
          <p:cNvSpPr/>
          <p:nvPr/>
        </p:nvSpPr>
        <p:spPr>
          <a:xfrm>
            <a:off x="2066544" y="1234440"/>
            <a:ext cx="1572768" cy="1371600"/>
          </a:xfrm>
          <a:prstGeom prst="rect">
            <a:avLst/>
          </a:prstGeom>
          <a:solidFill>
            <a:srgbClr val="5B3D9E"/>
          </a:solidFill>
          <a:ln cap="flat" cmpd="sng" w="12700">
            <a:solidFill>
              <a:srgbClr val="5B3D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2066544" y="129844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2176272" y="1645920"/>
            <a:ext cx="1353312" cy="18288"/>
          </a:xfrm>
          <a:prstGeom prst="rect">
            <a:avLst/>
          </a:prstGeom>
          <a:solidFill>
            <a:srgbClr val="FFFFFF">
              <a:alpha val="50196"/>
            </a:srgbClr>
          </a:solidFill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2066544" y="1691640"/>
            <a:ext cx="157276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to 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when to do 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3666744" y="1865376"/>
            <a:ext cx="73152" cy="73152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6"/>
          <p:cNvSpPr/>
          <p:nvPr/>
        </p:nvSpPr>
        <p:spPr>
          <a:xfrm>
            <a:off x="3767328" y="1234440"/>
            <a:ext cx="1572768" cy="1371600"/>
          </a:xfrm>
          <a:prstGeom prst="rect">
            <a:avLst/>
          </a:prstGeom>
          <a:solidFill>
            <a:srgbClr val="1A7A7A"/>
          </a:solidFill>
          <a:ln cap="flat" cmpd="sng" w="12700">
            <a:solidFill>
              <a:srgbClr val="1A7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6"/>
          <p:cNvSpPr/>
          <p:nvPr/>
        </p:nvSpPr>
        <p:spPr>
          <a:xfrm>
            <a:off x="3767328" y="129844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Tools + MCP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3877056" y="1645920"/>
            <a:ext cx="1353312" cy="18288"/>
          </a:xfrm>
          <a:prstGeom prst="rect">
            <a:avLst/>
          </a:prstGeom>
          <a:solidFill>
            <a:srgbClr val="FFFFFF">
              <a:alpha val="50196"/>
            </a:srgbClr>
          </a:solidFill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3767328" y="1691640"/>
            <a:ext cx="157276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Deterministic calculation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 routes each call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5367528" y="1865376"/>
            <a:ext cx="73152" cy="73152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6"/>
          <p:cNvSpPr/>
          <p:nvPr/>
        </p:nvSpPr>
        <p:spPr>
          <a:xfrm>
            <a:off x="5468112" y="1234440"/>
            <a:ext cx="1572768" cy="1371600"/>
          </a:xfrm>
          <a:prstGeom prst="rect">
            <a:avLst/>
          </a:prstGeom>
          <a:solidFill>
            <a:srgbClr val="2E7D52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"/>
          <p:cNvSpPr/>
          <p:nvPr/>
        </p:nvSpPr>
        <p:spPr>
          <a:xfrm>
            <a:off x="5468112" y="129844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Corpus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5577840" y="1645920"/>
            <a:ext cx="1353312" cy="18288"/>
          </a:xfrm>
          <a:prstGeom prst="rect">
            <a:avLst/>
          </a:prstGeom>
          <a:solidFill>
            <a:srgbClr val="FFFFFF">
              <a:alpha val="50196"/>
            </a:srgbClr>
          </a:solidFill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5468112" y="1691640"/>
            <a:ext cx="157276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Bridgewater frameworks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investment checklists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7068312" y="1865376"/>
            <a:ext cx="73152" cy="73152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6"/>
          <p:cNvSpPr/>
          <p:nvPr/>
        </p:nvSpPr>
        <p:spPr>
          <a:xfrm>
            <a:off x="7168896" y="1234440"/>
            <a:ext cx="1572768" cy="1371600"/>
          </a:xfrm>
          <a:prstGeom prst="rect">
            <a:avLst/>
          </a:prstGeom>
          <a:solidFill>
            <a:srgbClr val="7B3D9E"/>
          </a:solidFill>
          <a:ln cap="flat" cmpd="sng" w="12700">
            <a:solidFill>
              <a:srgbClr val="7B3D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7168896" y="129844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Synthesis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7278624" y="1645920"/>
            <a:ext cx="1353312" cy="18288"/>
          </a:xfrm>
          <a:prstGeom prst="rect">
            <a:avLst/>
          </a:prstGeom>
          <a:solidFill>
            <a:srgbClr val="FFFFFF">
              <a:alpha val="50196"/>
            </a:srgbClr>
          </a:solidFill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6"/>
          <p:cNvSpPr/>
          <p:nvPr/>
        </p:nvSpPr>
        <p:spPr>
          <a:xfrm>
            <a:off x="7168896" y="1691640"/>
            <a:ext cx="157276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Interprets evidence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Produces research memo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365760" y="2743200"/>
            <a:ext cx="8092440" cy="502920"/>
          </a:xfrm>
          <a:prstGeom prst="rect">
            <a:avLst/>
          </a:prstGeom>
          <a:solidFill>
            <a:srgbClr val="FFF8EE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6"/>
          <p:cNvSpPr/>
          <p:nvPr/>
        </p:nvSpPr>
        <p:spPr>
          <a:xfrm>
            <a:off x="365760" y="2743200"/>
            <a:ext cx="82296" cy="502920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6"/>
          <p:cNvSpPr/>
          <p:nvPr/>
        </p:nvSpPr>
        <p:spPr>
          <a:xfrm>
            <a:off x="521208" y="2788920"/>
            <a:ext cx="7863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A0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5A00"/>
                </a:solidFill>
                <a:latin typeface="Calibri"/>
                <a:ea typeface="Calibri"/>
                <a:cs typeface="Calibri"/>
                <a:sym typeface="Calibri"/>
              </a:rPr>
              <a:t>▸  Human Review &amp; Approval  —  PM receives structured research memo · approves, overrides, or requests more analysis · trade authorization 100% human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365760" y="3364992"/>
            <a:ext cx="1965960" cy="1024128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6"/>
          <p:cNvSpPr/>
          <p:nvPr/>
        </p:nvSpPr>
        <p:spPr>
          <a:xfrm>
            <a:off x="457200" y="3419856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🧮  Tools calculate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457200" y="3712464"/>
            <a:ext cx="1783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Deterministic outputs — no final verdicts, no buy/sell/hold labels in 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2468880" y="3364992"/>
            <a:ext cx="1965960" cy="1024128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6"/>
          <p:cNvSpPr/>
          <p:nvPr/>
        </p:nvSpPr>
        <p:spPr>
          <a:xfrm>
            <a:off x="2560320" y="3419856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📚  RAG anchors judgment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2560320" y="3712464"/>
            <a:ext cx="1783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Internal frameworks from the corpus prevent LLM hallucination and drift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4572000" y="3364992"/>
            <a:ext cx="1965960" cy="1024128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6"/>
          <p:cNvSpPr/>
          <p:nvPr/>
        </p:nvSpPr>
        <p:spPr>
          <a:xfrm>
            <a:off x="4663440" y="3419856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🧠  LLM synthesizes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4663440" y="3712464"/>
            <a:ext cx="1783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Combines evidence packet into a structured memo — reasoning made visible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6675120" y="3364992"/>
            <a:ext cx="1965960" cy="1024128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6"/>
          <p:cNvSpPr/>
          <p:nvPr/>
        </p:nvSpPr>
        <p:spPr>
          <a:xfrm>
            <a:off x="6766560" y="3419856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✅  Human decides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6766560" y="3712464"/>
            <a:ext cx="1783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Every gate requires human sign-off before the workflow can advance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MGTA 495  ·  Bridgewater AI Research Coworker  ·  Andy Liu · Will Zheng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7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E8853D">
              <a:alpha val="45098"/>
            </a:srgbClr>
          </a:solidFill>
          <a:ln cap="flat" cmpd="sng" w="12700">
            <a:solidFill>
              <a:srgbClr val="E8853D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8229600" y="3200400"/>
            <a:ext cx="1828800" cy="1828800"/>
          </a:xfrm>
          <a:prstGeom prst="ellipse">
            <a:avLst/>
          </a:prstGeom>
          <a:solidFill>
            <a:srgbClr val="C9952E">
              <a:alpha val="40000"/>
            </a:srgbClr>
          </a:solidFill>
          <a:ln cap="flat" cmpd="sng" w="12700">
            <a:solidFill>
              <a:srgbClr val="C9952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&amp; RAG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Fuels the AI Coworker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457200" y="1234440"/>
            <a:ext cx="3794760" cy="1115568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566928" y="1371600"/>
            <a:ext cx="384048" cy="38404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566928" y="13716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1051560" y="1389888"/>
            <a:ext cx="777240" cy="182880"/>
          </a:xfrm>
          <a:prstGeom prst="rect">
            <a:avLst/>
          </a:prstGeom>
          <a:solidFill>
            <a:srgbClr val="1E2761">
              <a:alpha val="14901"/>
            </a:srgbClr>
          </a:solidFill>
          <a:ln cap="flat" cmpd="sng" w="12700">
            <a:solidFill>
              <a:srgbClr val="1E276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"/>
          <p:cNvSpPr/>
          <p:nvPr/>
        </p:nvSpPr>
        <p:spPr>
          <a:xfrm>
            <a:off x="1051560" y="138988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PUBLIC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1051560" y="1591056"/>
            <a:ext cx="3090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Macro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566928" y="1837944"/>
            <a:ext cx="3584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FRED API — real macro series (GDP, inflation, rates) as a legal proxy for Bloomberg-style inputs.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4480560" y="1234440"/>
            <a:ext cx="3794760" cy="1115568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7"/>
          <p:cNvSpPr/>
          <p:nvPr/>
        </p:nvSpPr>
        <p:spPr>
          <a:xfrm>
            <a:off x="4590288" y="1371600"/>
            <a:ext cx="384048" cy="38404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7"/>
          <p:cNvSpPr/>
          <p:nvPr/>
        </p:nvSpPr>
        <p:spPr>
          <a:xfrm>
            <a:off x="4590288" y="13716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5074920" y="1389888"/>
            <a:ext cx="777240" cy="182880"/>
          </a:xfrm>
          <a:prstGeom prst="rect">
            <a:avLst/>
          </a:prstGeom>
          <a:solidFill>
            <a:srgbClr val="1E2761">
              <a:alpha val="14901"/>
            </a:srgbClr>
          </a:solidFill>
          <a:ln cap="flat" cmpd="sng" w="12700">
            <a:solidFill>
              <a:srgbClr val="1E276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7"/>
          <p:cNvSpPr/>
          <p:nvPr/>
        </p:nvSpPr>
        <p:spPr>
          <a:xfrm>
            <a:off x="5074920" y="138988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SIMULATED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5074920" y="1591056"/>
            <a:ext cx="3090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SEC-Style Filings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4590288" y="1837944"/>
            <a:ext cx="3584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Structured multi-company financial data including revenue, margins, and filing risk flags.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457200" y="2468880"/>
            <a:ext cx="3794760" cy="1115568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7"/>
          <p:cNvSpPr/>
          <p:nvPr/>
        </p:nvSpPr>
        <p:spPr>
          <a:xfrm>
            <a:off x="566928" y="2606040"/>
            <a:ext cx="384048" cy="38404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>
            <a:off x="566928" y="2606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1051560" y="2624328"/>
            <a:ext cx="777240" cy="182880"/>
          </a:xfrm>
          <a:prstGeom prst="rect">
            <a:avLst/>
          </a:prstGeom>
          <a:solidFill>
            <a:srgbClr val="1E2761">
              <a:alpha val="14901"/>
            </a:srgbClr>
          </a:solidFill>
          <a:ln cap="flat" cmpd="sng" w="12700">
            <a:solidFill>
              <a:srgbClr val="1E276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>
            <a:off x="1051560" y="262432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SYNTHETIC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1051560" y="2825496"/>
            <a:ext cx="3090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News Sentiment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566928" y="3072384"/>
            <a:ext cx="3584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Multi-company headlines + relevance scores. Raw text only — no pre-written verdicts.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4480560" y="2468880"/>
            <a:ext cx="3794760" cy="1115568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7"/>
          <p:cNvSpPr/>
          <p:nvPr/>
        </p:nvSpPr>
        <p:spPr>
          <a:xfrm>
            <a:off x="4590288" y="2606040"/>
            <a:ext cx="384048" cy="38404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7"/>
          <p:cNvSpPr/>
          <p:nvPr/>
        </p:nvSpPr>
        <p:spPr>
          <a:xfrm>
            <a:off x="4590288" y="2606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5074920" y="2624328"/>
            <a:ext cx="777240" cy="182880"/>
          </a:xfrm>
          <a:prstGeom prst="rect">
            <a:avLst/>
          </a:prstGeom>
          <a:solidFill>
            <a:srgbClr val="1E2761">
              <a:alpha val="14901"/>
            </a:srgbClr>
          </a:solidFill>
          <a:ln cap="flat" cmpd="sng" w="12700">
            <a:solidFill>
              <a:srgbClr val="1E276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7"/>
          <p:cNvSpPr/>
          <p:nvPr/>
        </p:nvSpPr>
        <p:spPr>
          <a:xfrm>
            <a:off x="5074920" y="262432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SYNTHETIC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5074920" y="2825496"/>
            <a:ext cx="3090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Scenario Stress Tests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4590288" y="3072384"/>
            <a:ext cx="3584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500+ synthetic macro stress briefs covering shock scenarios for downstream model testing.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457200" y="3721608"/>
            <a:ext cx="8046720" cy="201168"/>
          </a:xfrm>
          <a:prstGeom prst="rect">
            <a:avLst/>
          </a:prstGeom>
          <a:solidFill>
            <a:srgbClr val="5B3D9E"/>
          </a:solidFill>
          <a:ln cap="flat" cmpd="sng" w="12700">
            <a:solidFill>
              <a:srgbClr val="5B3D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7"/>
          <p:cNvSpPr/>
          <p:nvPr/>
        </p:nvSpPr>
        <p:spPr>
          <a:xfrm>
            <a:off x="548640" y="373075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Corpus — Institutional Knowledge Layer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457200" y="3922776"/>
            <a:ext cx="2578608" cy="786384"/>
          </a:xfrm>
          <a:prstGeom prst="rect">
            <a:avLst/>
          </a:prstGeom>
          <a:solidFill>
            <a:srgbClr val="F0EEF8"/>
          </a:solidFill>
          <a:ln cap="flat" cmpd="sng" w="9525">
            <a:solidFill>
              <a:srgbClr val="CCC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7"/>
          <p:cNvSpPr/>
          <p:nvPr/>
        </p:nvSpPr>
        <p:spPr>
          <a:xfrm>
            <a:off x="457200" y="3922776"/>
            <a:ext cx="64008" cy="786384"/>
          </a:xfrm>
          <a:prstGeom prst="rect">
            <a:avLst/>
          </a:prstGeom>
          <a:solidFill>
            <a:srgbClr val="5B3D9E"/>
          </a:solidFill>
          <a:ln cap="flat" cmpd="sng" w="12700">
            <a:solidFill>
              <a:srgbClr val="5B3D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7"/>
          <p:cNvSpPr/>
          <p:nvPr/>
        </p:nvSpPr>
        <p:spPr>
          <a:xfrm>
            <a:off x="585216" y="396849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Thesis-monitoring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585216" y="42062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Rules for when to escalate vs. hold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3172968" y="3922776"/>
            <a:ext cx="2578608" cy="786384"/>
          </a:xfrm>
          <a:prstGeom prst="rect">
            <a:avLst/>
          </a:prstGeom>
          <a:solidFill>
            <a:srgbClr val="F0EEF8"/>
          </a:solidFill>
          <a:ln cap="flat" cmpd="sng" w="9525">
            <a:solidFill>
              <a:srgbClr val="CCC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7"/>
          <p:cNvSpPr/>
          <p:nvPr/>
        </p:nvSpPr>
        <p:spPr>
          <a:xfrm>
            <a:off x="3172968" y="3922776"/>
            <a:ext cx="64008" cy="786384"/>
          </a:xfrm>
          <a:prstGeom prst="rect">
            <a:avLst/>
          </a:prstGeom>
          <a:solidFill>
            <a:srgbClr val="5B3D9E"/>
          </a:solidFill>
          <a:ln cap="flat" cmpd="sng" w="12700">
            <a:solidFill>
              <a:srgbClr val="5B3D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7"/>
          <p:cNvSpPr/>
          <p:nvPr/>
        </p:nvSpPr>
        <p:spPr>
          <a:xfrm>
            <a:off x="3300984" y="396849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Investment checklists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7"/>
          <p:cNvSpPr/>
          <p:nvPr/>
        </p:nvSpPr>
        <p:spPr>
          <a:xfrm>
            <a:off x="3300984" y="42062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Step-by-step evidence requirements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5888736" y="3922776"/>
            <a:ext cx="2578608" cy="786384"/>
          </a:xfrm>
          <a:prstGeom prst="rect">
            <a:avLst/>
          </a:prstGeom>
          <a:solidFill>
            <a:srgbClr val="F0EEF8"/>
          </a:solidFill>
          <a:ln cap="flat" cmpd="sng" w="9525">
            <a:solidFill>
              <a:srgbClr val="CCC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7"/>
          <p:cNvSpPr/>
          <p:nvPr/>
        </p:nvSpPr>
        <p:spPr>
          <a:xfrm>
            <a:off x="5888736" y="3922776"/>
            <a:ext cx="64008" cy="786384"/>
          </a:xfrm>
          <a:prstGeom prst="rect">
            <a:avLst/>
          </a:prstGeom>
          <a:solidFill>
            <a:srgbClr val="5B3D9E"/>
          </a:solidFill>
          <a:ln cap="flat" cmpd="sng" w="12700">
            <a:solidFill>
              <a:srgbClr val="5B3D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7"/>
          <p:cNvSpPr/>
          <p:nvPr/>
        </p:nvSpPr>
        <p:spPr>
          <a:xfrm>
            <a:off x="6016752" y="396849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Escalation rules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7"/>
          <p:cNvSpPr/>
          <p:nvPr/>
        </p:nvSpPr>
        <p:spPr>
          <a:xfrm>
            <a:off x="6016752" y="42062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Thresholds that trigger REVIEW SOON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MGTA 495  ·  Bridgewater AI Research Coworker  ·  Andy Liu · Will Zheng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8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E8853D">
              <a:alpha val="85098"/>
            </a:srgbClr>
          </a:solidFill>
          <a:ln cap="flat" cmpd="sng" w="12700">
            <a:solidFill>
              <a:srgbClr val="E8853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8"/>
          <p:cNvSpPr/>
          <p:nvPr/>
        </p:nvSpPr>
        <p:spPr>
          <a:xfrm>
            <a:off x="8046720" y="2926080"/>
            <a:ext cx="2286000" cy="2286000"/>
          </a:xfrm>
          <a:prstGeom prst="ellipse">
            <a:avLst/>
          </a:prstGeom>
          <a:solidFill>
            <a:srgbClr val="C9952E">
              <a:alpha val="80000"/>
            </a:srgbClr>
          </a:solidFill>
          <a:ln cap="flat" cmpd="sng" w="12700">
            <a:solidFill>
              <a:srgbClr val="C9952E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Section 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548640" y="1920240"/>
            <a:ext cx="6400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UI Walkthrough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548640" y="32918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DD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BBBBDD"/>
                </a:solidFill>
                <a:latin typeface="Calibri"/>
                <a:ea typeface="Calibri"/>
                <a:cs typeface="Calibri"/>
                <a:sym typeface="Calibri"/>
              </a:rPr>
              <a:t>The analyst experience — NVDA thesis monitoring demo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MGTA 495  ·  Bridgewater AI Research Coworker  ·  Andy Liu · Will Zheng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9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E8853D">
              <a:alpha val="45098"/>
            </a:srgbClr>
          </a:solidFill>
          <a:ln cap="flat" cmpd="sng" w="12700">
            <a:solidFill>
              <a:srgbClr val="E8853D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8229600" y="3200400"/>
            <a:ext cx="1828800" cy="1828800"/>
          </a:xfrm>
          <a:prstGeom prst="ellipse">
            <a:avLst/>
          </a:prstGeom>
          <a:solidFill>
            <a:srgbClr val="C9952E">
              <a:alpha val="40000"/>
            </a:srgbClr>
          </a:solidFill>
          <a:ln cap="flat" cmpd="sng" w="12700">
            <a:solidFill>
              <a:srgbClr val="C9952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UI DEMO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AI Coworker Interface — Live Demo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5596128" y="1188720"/>
            <a:ext cx="292608" cy="292608"/>
          </a:xfrm>
          <a:prstGeom prst="ellipse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9"/>
          <p:cNvSpPr/>
          <p:nvPr/>
        </p:nvSpPr>
        <p:spPr>
          <a:xfrm>
            <a:off x="5596128" y="11887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5961888" y="1188720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Mandate input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5961888" y="138988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Analyst types investment thesis in plain language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5596128" y="1938528"/>
            <a:ext cx="292608" cy="292608"/>
          </a:xfrm>
          <a:prstGeom prst="ellipse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5596128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5961888" y="1938528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Evidence vault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5961888" y="2139696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AI returns sourced, traceable evidence items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5596128" y="2688336"/>
            <a:ext cx="292608" cy="292608"/>
          </a:xfrm>
          <a:prstGeom prst="ellipse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9"/>
          <p:cNvSpPr/>
          <p:nvPr/>
        </p:nvSpPr>
        <p:spPr>
          <a:xfrm>
            <a:off x="5596128" y="268833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5961888" y="2688336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AI analyst committee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5961888" y="2889504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Competing AI perspectives surfaced for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5596128" y="3438144"/>
            <a:ext cx="292608" cy="292608"/>
          </a:xfrm>
          <a:prstGeom prst="ellipse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>
            <a:off x="5596128" y="343814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5961888" y="3438144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Status badge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5961888" y="363931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PRESSURED · REVIEW SOON — escalation triggered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MGTA 495  ·  Bridgewater AI Research Coworker  ·  Andy Liu · Will Zheng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p9" title="Screenshot 2026-06-04 at 07.53.12.jpg"/>
          <p:cNvPicPr preferRelativeResize="0"/>
          <p:nvPr/>
        </p:nvPicPr>
        <p:blipFill rotWithShape="1">
          <a:blip r:embed="rId3">
            <a:alphaModFix/>
          </a:blip>
          <a:srcRect b="8834" l="0" r="1980" t="0"/>
          <a:stretch/>
        </p:blipFill>
        <p:spPr>
          <a:xfrm>
            <a:off x="457200" y="1156375"/>
            <a:ext cx="4929623" cy="2800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0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E8853D">
              <a:alpha val="45098"/>
            </a:srgbClr>
          </a:solidFill>
          <a:ln cap="flat" cmpd="sng" w="12700">
            <a:solidFill>
              <a:srgbClr val="E8853D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8229600" y="3200400"/>
            <a:ext cx="1828800" cy="1828800"/>
          </a:xfrm>
          <a:prstGeom prst="ellipse">
            <a:avLst/>
          </a:prstGeom>
          <a:solidFill>
            <a:srgbClr val="C9952E">
              <a:alpha val="40000"/>
            </a:srgbClr>
          </a:solidFill>
          <a:ln cap="flat" cmpd="sng" w="12700">
            <a:solidFill>
              <a:srgbClr val="C9952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GOVERNANCE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Human Review &amp; Governance — Who Stays in Control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457200" y="1234440"/>
            <a:ext cx="777240" cy="777240"/>
          </a:xfrm>
          <a:prstGeom prst="rect">
            <a:avLst/>
          </a:prstGeom>
          <a:solidFill>
            <a:srgbClr val="B03030"/>
          </a:solidFill>
          <a:ln cap="flat" cmpd="sng" w="12700">
            <a:solidFill>
              <a:srgbClr val="B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457200" y="1280160"/>
            <a:ext cx="777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 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457200" y="1618488"/>
            <a:ext cx="777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⑦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1325880" y="1234440"/>
            <a:ext cx="7132320" cy="777240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1444752" y="1289304"/>
            <a:ext cx="6903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Thesis Approval  —  Senior Analyst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1444752" y="153619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AI provides: Comparable thesis history, evidence summary, RAG-grounded gaps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4937760" y="1307592"/>
            <a:ext cx="9144" cy="640080"/>
          </a:xfrm>
          <a:prstGeom prst="rect">
            <a:avLst/>
          </a:prstGeom>
          <a:solidFill>
            <a:srgbClr val="CCCCDD"/>
          </a:solidFill>
          <a:ln cap="flat" cmpd="sng" w="12700">
            <a:solidFill>
              <a:srgbClr val="CCCC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5029200" y="1536192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Human decides: Is the thesis defensible enough to proceed?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457200" y="2148840"/>
            <a:ext cx="777240" cy="777240"/>
          </a:xfrm>
          <a:prstGeom prst="rect">
            <a:avLst/>
          </a:prstGeom>
          <a:solidFill>
            <a:srgbClr val="1A7A7A"/>
          </a:solidFill>
          <a:ln cap="flat" cmpd="sng" w="12700">
            <a:solidFill>
              <a:srgbClr val="1A7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457200" y="2194560"/>
            <a:ext cx="777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Gate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457200" y="2532888"/>
            <a:ext cx="777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⑤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1325880" y="2148840"/>
            <a:ext cx="7132320" cy="777240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1444752" y="2203704"/>
            <a:ext cx="6903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 Quality Sign-Off  —  Senior Analyst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1444752" y="245059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AI provides: API pull logs, anomaly flags, stale data warnings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4937760" y="2221992"/>
            <a:ext cx="9144" cy="640080"/>
          </a:xfrm>
          <a:prstGeom prst="rect">
            <a:avLst/>
          </a:prstGeom>
          <a:solidFill>
            <a:srgbClr val="CCCCDD"/>
          </a:solidFill>
          <a:ln cap="flat" cmpd="sng" w="12700">
            <a:solidFill>
              <a:srgbClr val="CCCC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5029200" y="2450592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Human decides: Is this data fit for investment use?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457200" y="3063240"/>
            <a:ext cx="777240" cy="777240"/>
          </a:xfrm>
          <a:prstGeom prst="rect">
            <a:avLst/>
          </a:prstGeom>
          <a:solidFill>
            <a:srgbClr val="B03030"/>
          </a:solidFill>
          <a:ln cap="flat" cmpd="sng" w="12700">
            <a:solidFill>
              <a:srgbClr val="B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457200" y="3108960"/>
            <a:ext cx="777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 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457200" y="3447288"/>
            <a:ext cx="777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Steps ⑨–⑩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1325880" y="3063240"/>
            <a:ext cx="7132320" cy="777240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1444752" y="3118104"/>
            <a:ext cx="6903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Risk Approval  —  Risk Manager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1444752" y="336499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AI provides: 500+ dynamic scenario results, VaR, position limits check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4937760" y="3136392"/>
            <a:ext cx="9144" cy="640080"/>
          </a:xfrm>
          <a:prstGeom prst="rect">
            <a:avLst/>
          </a:prstGeom>
          <a:solidFill>
            <a:srgbClr val="CCCCDD"/>
          </a:solidFill>
          <a:ln cap="flat" cmpd="sng" w="12700">
            <a:solidFill>
              <a:srgbClr val="CCCC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5029200" y="3364992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Human decides: Is the risk envelope acceptable?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457200" y="3977640"/>
            <a:ext cx="777240" cy="777240"/>
          </a:xfrm>
          <a:prstGeom prst="rect">
            <a:avLst/>
          </a:prstGeom>
          <a:solidFill>
            <a:srgbClr val="B03030"/>
          </a:solidFill>
          <a:ln cap="flat" cmpd="sng" w="12700">
            <a:solidFill>
              <a:srgbClr val="B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457200" y="4023360"/>
            <a:ext cx="777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 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457200" y="4361688"/>
            <a:ext cx="777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Steps ⑪–⑫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1325880" y="3977640"/>
            <a:ext cx="7132320" cy="777240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1444752" y="4032504"/>
            <a:ext cx="6903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Trade Authorization  —  Portfolio Manager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1444752" y="427939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AI provides: Full consolidated briefing memo with all evidence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4937760" y="4050792"/>
            <a:ext cx="9144" cy="640080"/>
          </a:xfrm>
          <a:prstGeom prst="rect">
            <a:avLst/>
          </a:prstGeom>
          <a:solidFill>
            <a:srgbClr val="CCCCDD"/>
          </a:solidFill>
          <a:ln cap="flat" cmpd="sng" w="12700">
            <a:solidFill>
              <a:srgbClr val="CCCC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5029200" y="4279392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Human decides: Approve trade · 100% human · No AI authorization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457200" y="4892040"/>
            <a:ext cx="8046720" cy="0"/>
          </a:xfrm>
          <a:prstGeom prst="rect">
            <a:avLst/>
          </a:prstGeom>
          <a:noFill/>
          <a:ln cap="flat" cmpd="sng" w="9525">
            <a:solidFill>
              <a:srgbClr val="CCC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0"/>
          <p:cNvSpPr/>
          <p:nvPr/>
        </p:nvSpPr>
        <p:spPr>
          <a:xfrm>
            <a:off x="457200" y="466344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Design principle:  AI explains · Human approves.  AI calculates · Human judges.  AI flags · Human acts.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MGTA 495  ·  Bridgewater AI Research Coworker  ·  Andy Liu · Will Zheng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1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E8853D">
              <a:alpha val="45098"/>
            </a:srgbClr>
          </a:solidFill>
          <a:ln cap="flat" cmpd="sng" w="12700">
            <a:solidFill>
              <a:srgbClr val="E8853D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1"/>
          <p:cNvSpPr/>
          <p:nvPr/>
        </p:nvSpPr>
        <p:spPr>
          <a:xfrm>
            <a:off x="8229600" y="3200400"/>
            <a:ext cx="1828800" cy="1828800"/>
          </a:xfrm>
          <a:prstGeom prst="ellipse">
            <a:avLst/>
          </a:prstGeom>
          <a:solidFill>
            <a:srgbClr val="C9952E">
              <a:alpha val="40000"/>
            </a:srgbClr>
          </a:solidFill>
          <a:ln cap="flat" cmpd="sng" w="12700">
            <a:solidFill>
              <a:srgbClr val="C9952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Testing &amp; Validation — How We Know It Works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457200" y="1188720"/>
            <a:ext cx="2606040" cy="10058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457200" y="1243584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D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BBBDD"/>
                </a:solidFill>
                <a:latin typeface="Calibri"/>
                <a:ea typeface="Calibri"/>
                <a:cs typeface="Calibri"/>
                <a:sym typeface="Calibri"/>
              </a:rPr>
              <a:t>Tool validator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457200" y="148132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OK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457200" y="1847088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DD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BBBBDD"/>
                </a:solidFill>
                <a:latin typeface="Calibri"/>
                <a:ea typeface="Calibri"/>
                <a:cs typeface="Calibri"/>
                <a:sym typeface="Calibri"/>
              </a:rPr>
              <a:t>All 4 MCP tools registered and callable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3246120" y="1188720"/>
            <a:ext cx="2606040" cy="10058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3246120" y="1243584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D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BBBDD"/>
                </a:solidFill>
                <a:latin typeface="Calibri"/>
                <a:ea typeface="Calibri"/>
                <a:cs typeface="Calibri"/>
                <a:sym typeface="Calibri"/>
              </a:rPr>
              <a:t>Demo validator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3246120" y="148132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OK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3246120" y="1847088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DD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BBBBDD"/>
                </a:solidFill>
                <a:latin typeface="Calibri"/>
                <a:ea typeface="Calibri"/>
                <a:cs typeface="Calibri"/>
                <a:sym typeface="Calibri"/>
              </a:rPr>
              <a:t>End-to-end workflow completed successfully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6035040" y="1188720"/>
            <a:ext cx="2606040" cy="10058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1"/>
          <p:cNvSpPr/>
          <p:nvPr/>
        </p:nvSpPr>
        <p:spPr>
          <a:xfrm>
            <a:off x="6035040" y="1243584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D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BBBDD"/>
                </a:solidFill>
                <a:latin typeface="Calibri"/>
                <a:ea typeface="Calibri"/>
                <a:cs typeface="Calibri"/>
                <a:sym typeface="Calibri"/>
              </a:rPr>
              <a:t>Pytest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6035040" y="148132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12/12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6035040" y="1847088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DD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BBBBDD"/>
                </a:solidFill>
                <a:latin typeface="Calibri"/>
                <a:ea typeface="Calibri"/>
                <a:cs typeface="Calibri"/>
                <a:sym typeface="Calibri"/>
              </a:rPr>
              <a:t>All unit tests passed across all skills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5" name="Google Shape;455;p11"/>
          <p:cNvGraphicFramePr/>
          <p:nvPr/>
        </p:nvGraphicFramePr>
        <p:xfrm>
          <a:off x="457200" y="2331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{EBDC1F19-F9B4-4E21-86D9-F121E86E0A15}</a:tableStyleId>
              </a:tblPr>
              <a:tblGrid>
                <a:gridCol w="1737350"/>
                <a:gridCol w="3657600"/>
                <a:gridCol w="1920250"/>
              </a:tblGrid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sz="8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What was tested</a:t>
                      </a:r>
                      <a:endParaRPr sz="8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How validated</a:t>
                      </a:r>
                      <a:endParaRPr sz="8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Macro skill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FRED API pull → macro_risk_flags output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Unit test + manual review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News skill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Raw headlines → news sentiment counts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Unit test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4F8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Filing skill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10-K excerpts → filing_risk_flags + snippets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Unit test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Stress skill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Risk inputs → scenario scores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Unit test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4F8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MCP routing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LLM → MCP → correct tool selected &amp; called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Integration test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RAG retrieval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Framework docs retrieved for NVDA query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End-to-end demo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4F8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LLM synthesis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Evidence packet → PRESSURED memo (no pre-labels)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1E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1E2E"/>
                          </a:solidFill>
                        </a:rPr>
                        <a:t>Demo validator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6" name="Google Shape;456;p11"/>
          <p:cNvSpPr/>
          <p:nvPr/>
        </p:nvSpPr>
        <p:spPr>
          <a:xfrm>
            <a:off x="457200" y="4480560"/>
            <a:ext cx="8046720" cy="384048"/>
          </a:xfrm>
          <a:prstGeom prst="rect">
            <a:avLst/>
          </a:prstGeom>
          <a:solidFill>
            <a:srgbClr val="F0EEF8"/>
          </a:solidFill>
          <a:ln cap="flat" cmpd="sng" w="9525">
            <a:solidFill>
              <a:srgbClr val="5B3D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1"/>
          <p:cNvSpPr/>
          <p:nvPr/>
        </p:nvSpPr>
        <p:spPr>
          <a:xfrm>
            <a:off x="594360" y="4507992"/>
            <a:ext cx="7818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3D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B3D9E"/>
                </a:solidFill>
                <a:latin typeface="Calibri"/>
                <a:ea typeface="Calibri"/>
                <a:cs typeface="Calibri"/>
                <a:sym typeface="Calibri"/>
              </a:rPr>
              <a:t>★  RAG value in practice:  During the NVDA demo, the LLM used the thesis-monitoring framework from the RAG corpus to correct a keyword-rule mistake it had made from raw data alone.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MGTA 495  ·  Bridgewater AI Research Coworker  ·  Andy Liu · Will Zheng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2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E8853D">
              <a:alpha val="45098"/>
            </a:srgbClr>
          </a:solidFill>
          <a:ln cap="flat" cmpd="sng" w="12700">
            <a:solidFill>
              <a:srgbClr val="E8853D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2"/>
          <p:cNvSpPr/>
          <p:nvPr/>
        </p:nvSpPr>
        <p:spPr>
          <a:xfrm>
            <a:off x="8229600" y="3200400"/>
            <a:ext cx="1828800" cy="1828800"/>
          </a:xfrm>
          <a:prstGeom prst="ellipse">
            <a:avLst/>
          </a:prstGeom>
          <a:solidFill>
            <a:srgbClr val="C9952E">
              <a:alpha val="40000"/>
            </a:srgbClr>
          </a:solidFill>
          <a:ln cap="flat" cmpd="sng" w="12700">
            <a:solidFill>
              <a:srgbClr val="C9952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2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2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Failure Cases &amp; How We Handle Them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457200" y="1234440"/>
            <a:ext cx="3886200" cy="1188720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2"/>
          <p:cNvSpPr/>
          <p:nvPr/>
        </p:nvSpPr>
        <p:spPr>
          <a:xfrm>
            <a:off x="457200" y="1234440"/>
            <a:ext cx="3886200" cy="54864"/>
          </a:xfrm>
          <a:prstGeom prst="rect">
            <a:avLst/>
          </a:prstGeom>
          <a:solidFill>
            <a:srgbClr val="B03030"/>
          </a:solidFill>
          <a:ln cap="flat" cmpd="sng" w="12700">
            <a:solidFill>
              <a:srgbClr val="B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2"/>
          <p:cNvSpPr/>
          <p:nvPr/>
        </p:nvSpPr>
        <p:spPr>
          <a:xfrm>
            <a:off x="3337560" y="132588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3030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B03030"/>
                </a:solidFill>
                <a:latin typeface="Calibri"/>
                <a:ea typeface="Calibri"/>
                <a:cs typeface="Calibri"/>
                <a:sym typeface="Calibri"/>
              </a:rPr>
              <a:t>High risk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566928" y="1325880"/>
            <a:ext cx="2880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⚠  LLM hallucination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566928" y="1572768"/>
            <a:ext cx="3685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202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A2020"/>
                </a:solidFill>
                <a:latin typeface="Calibri"/>
                <a:ea typeface="Calibri"/>
                <a:cs typeface="Calibri"/>
                <a:sym typeface="Calibri"/>
              </a:rPr>
              <a:t>Risk: AI generates a plausible-sounding claim not supported by source data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566928" y="1947672"/>
            <a:ext cx="3685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503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A5030"/>
                </a:solidFill>
                <a:latin typeface="Calibri"/>
                <a:ea typeface="Calibri"/>
                <a:cs typeface="Calibri"/>
                <a:sym typeface="Calibri"/>
              </a:rPr>
              <a:t>Mitigation: All AI claims must trace to a specific tool output in the evidence vault. RAG corpus provides grounding rules.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4617720" y="1234440"/>
            <a:ext cx="3886200" cy="1188720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2"/>
          <p:cNvSpPr/>
          <p:nvPr/>
        </p:nvSpPr>
        <p:spPr>
          <a:xfrm>
            <a:off x="4617720" y="1234440"/>
            <a:ext cx="3886200" cy="54864"/>
          </a:xfrm>
          <a:prstGeom prst="rect">
            <a:avLst/>
          </a:prstGeom>
          <a:solidFill>
            <a:srgbClr val="B06A10"/>
          </a:solidFill>
          <a:ln cap="flat" cmpd="sng" w="12700">
            <a:solidFill>
              <a:srgbClr val="B06A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2"/>
          <p:cNvSpPr/>
          <p:nvPr/>
        </p:nvSpPr>
        <p:spPr>
          <a:xfrm>
            <a:off x="7498080" y="132588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6A10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B06A10"/>
                </a:solidFill>
                <a:latin typeface="Calibri"/>
                <a:ea typeface="Calibri"/>
                <a:cs typeface="Calibri"/>
                <a:sym typeface="Calibri"/>
              </a:rPr>
              <a:t>Medium risk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4727448" y="1325880"/>
            <a:ext cx="2880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⚠  Stale data triggers false hold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4727448" y="1572768"/>
            <a:ext cx="3685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202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A2020"/>
                </a:solidFill>
                <a:latin typeface="Calibri"/>
                <a:ea typeface="Calibri"/>
                <a:cs typeface="Calibri"/>
                <a:sym typeface="Calibri"/>
              </a:rPr>
              <a:t>Risk: An outdated FRED pull causes the thesis to show PRESSURED when markets have moved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4727448" y="1947672"/>
            <a:ext cx="3685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503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A5030"/>
                </a:solidFill>
                <a:latin typeface="Calibri"/>
                <a:ea typeface="Calibri"/>
                <a:cs typeface="Calibri"/>
                <a:sym typeface="Calibri"/>
              </a:rPr>
              <a:t>Mitigation: Data freshness timestamp on every ingestion. Step ⑤ data quality gate catches stale feeds before analysis.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457200" y="2532888"/>
            <a:ext cx="3886200" cy="1188720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2"/>
          <p:cNvSpPr/>
          <p:nvPr/>
        </p:nvSpPr>
        <p:spPr>
          <a:xfrm>
            <a:off x="457200" y="2532888"/>
            <a:ext cx="3886200" cy="54864"/>
          </a:xfrm>
          <a:prstGeom prst="rect">
            <a:avLst/>
          </a:prstGeom>
          <a:solidFill>
            <a:srgbClr val="B06A10"/>
          </a:solidFill>
          <a:ln cap="flat" cmpd="sng" w="12700">
            <a:solidFill>
              <a:srgbClr val="B06A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2"/>
          <p:cNvSpPr/>
          <p:nvPr/>
        </p:nvSpPr>
        <p:spPr>
          <a:xfrm>
            <a:off x="3337560" y="262432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6A10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B06A10"/>
                </a:solidFill>
                <a:latin typeface="Calibri"/>
                <a:ea typeface="Calibri"/>
                <a:cs typeface="Calibri"/>
                <a:sym typeface="Calibri"/>
              </a:rPr>
              <a:t>Medium risk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566928" y="2624328"/>
            <a:ext cx="2880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⚠  LLM overconfidence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566928" y="2871216"/>
            <a:ext cx="3685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202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A2020"/>
                </a:solidFill>
                <a:latin typeface="Calibri"/>
                <a:ea typeface="Calibri"/>
                <a:cs typeface="Calibri"/>
                <a:sym typeface="Calibri"/>
              </a:rPr>
              <a:t>Risk: AI produces a PRESSURED verdict with high confidence despite ambiguous evidence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566928" y="3246120"/>
            <a:ext cx="3685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503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A5030"/>
                </a:solidFill>
                <a:latin typeface="Calibri"/>
                <a:ea typeface="Calibri"/>
                <a:cs typeface="Calibri"/>
                <a:sym typeface="Calibri"/>
              </a:rPr>
              <a:t>Mitigation: Human review gate required before any action. Plain-language rationale required on every AI output.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4617720" y="2532888"/>
            <a:ext cx="3886200" cy="1188720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2"/>
          <p:cNvSpPr/>
          <p:nvPr/>
        </p:nvSpPr>
        <p:spPr>
          <a:xfrm>
            <a:off x="4617720" y="2532888"/>
            <a:ext cx="3886200" cy="54864"/>
          </a:xfrm>
          <a:prstGeom prst="rect">
            <a:avLst/>
          </a:prstGeom>
          <a:solidFill>
            <a:srgbClr val="B03030"/>
          </a:solidFill>
          <a:ln cap="flat" cmpd="sng" w="12700">
            <a:solidFill>
              <a:srgbClr val="B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2"/>
          <p:cNvSpPr/>
          <p:nvPr/>
        </p:nvSpPr>
        <p:spPr>
          <a:xfrm>
            <a:off x="7498080" y="262432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3030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B03030"/>
                </a:solidFill>
                <a:latin typeface="Calibri"/>
                <a:ea typeface="Calibri"/>
                <a:cs typeface="Calibri"/>
                <a:sym typeface="Calibri"/>
              </a:rPr>
              <a:t>High risk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4727448" y="2624328"/>
            <a:ext cx="2880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⚠  Black-swan / novel events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4727448" y="2871216"/>
            <a:ext cx="3685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A202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A2020"/>
                </a:solidFill>
                <a:latin typeface="Calibri"/>
                <a:ea typeface="Calibri"/>
                <a:cs typeface="Calibri"/>
                <a:sym typeface="Calibri"/>
              </a:rPr>
              <a:t>Risk: Truly unprecedented macro events not represented in the scenario library or RAG corpus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4727448" y="3246120"/>
            <a:ext cx="3685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503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A5030"/>
                </a:solidFill>
                <a:latin typeface="Calibri"/>
                <a:ea typeface="Calibri"/>
                <a:cs typeface="Calibri"/>
                <a:sym typeface="Calibri"/>
              </a:rPr>
              <a:t>Mitigation: Human override always available at every gate. AI escalates to REVIEW SOON rather than forcing a conclusion.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457200" y="3840480"/>
            <a:ext cx="8046720" cy="868680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2"/>
          <p:cNvSpPr/>
          <p:nvPr/>
        </p:nvSpPr>
        <p:spPr>
          <a:xfrm>
            <a:off x="457200" y="3840480"/>
            <a:ext cx="8046720" cy="54864"/>
          </a:xfrm>
          <a:prstGeom prst="rect">
            <a:avLst/>
          </a:prstGeom>
          <a:solidFill>
            <a:srgbClr val="2E7D52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7498080" y="393192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D52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2E7D52"/>
                </a:solidFill>
                <a:latin typeface="Calibri"/>
                <a:ea typeface="Calibri"/>
                <a:cs typeface="Calibri"/>
                <a:sym typeface="Calibri"/>
              </a:rPr>
              <a:t>Low risk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566928" y="3931920"/>
            <a:ext cx="7040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⚠  Synthetic data gap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566928" y="4178808"/>
            <a:ext cx="7845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Risk: Synthetic SEC filings and news sentiment do not perfectly replicate live Bloomberg / Reuters feeds   |   Mitigation: Phase 2 roadmap: integrate live data APIs. Current system is explicitly advisory and for research only.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MGTA 495  ·  Bridgewater AI Research Coworker  ·  Andy Liu · Will Zheng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3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E8853D">
              <a:alpha val="45098"/>
            </a:srgbClr>
          </a:solidFill>
          <a:ln cap="flat" cmpd="sng" w="12700">
            <a:solidFill>
              <a:srgbClr val="E8853D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3"/>
          <p:cNvSpPr/>
          <p:nvPr/>
        </p:nvSpPr>
        <p:spPr>
          <a:xfrm>
            <a:off x="8229600" y="3200400"/>
            <a:ext cx="1828800" cy="1828800"/>
          </a:xfrm>
          <a:prstGeom prst="ellipse">
            <a:avLst/>
          </a:prstGeom>
          <a:solidFill>
            <a:srgbClr val="C9952E">
              <a:alpha val="40000"/>
            </a:srgbClr>
          </a:solidFill>
          <a:ln cap="flat" cmpd="sng" w="12700">
            <a:solidFill>
              <a:srgbClr val="C9952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3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3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SAMPLE OUTPUT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Sample Output — NVDA Thesis Monitoring Memo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3"/>
          <p:cNvSpPr/>
          <p:nvPr/>
        </p:nvSpPr>
        <p:spPr>
          <a:xfrm>
            <a:off x="457200" y="1170432"/>
            <a:ext cx="5074920" cy="35204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CCC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3"/>
          <p:cNvSpPr/>
          <p:nvPr/>
        </p:nvSpPr>
        <p:spPr>
          <a:xfrm>
            <a:off x="457200" y="1170432"/>
            <a:ext cx="5074920" cy="457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3"/>
          <p:cNvSpPr/>
          <p:nvPr/>
        </p:nvSpPr>
        <p:spPr>
          <a:xfrm>
            <a:off x="594360" y="1197864"/>
            <a:ext cx="4800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NVDA — Investment Thesis Monitoring Report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594360" y="1408176"/>
            <a:ext cx="4800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D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BBBBDD"/>
                </a:solidFill>
                <a:latin typeface="Calibri"/>
                <a:ea typeface="Calibri"/>
                <a:cs typeface="Calibri"/>
                <a:sym typeface="Calibri"/>
              </a:rPr>
              <a:t>Generated by Bridgewater AI Research Coworker  ·  &lt; 3 minutes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3"/>
          <p:cNvSpPr/>
          <p:nvPr/>
        </p:nvSpPr>
        <p:spPr>
          <a:xfrm>
            <a:off x="566928" y="1737360"/>
            <a:ext cx="1371600" cy="292608"/>
          </a:xfrm>
          <a:prstGeom prst="rect">
            <a:avLst/>
          </a:prstGeom>
          <a:solidFill>
            <a:srgbClr val="B06A10"/>
          </a:solidFill>
          <a:ln cap="flat" cmpd="sng" w="12700">
            <a:solidFill>
              <a:srgbClr val="B06A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3"/>
          <p:cNvSpPr/>
          <p:nvPr/>
        </p:nvSpPr>
        <p:spPr>
          <a:xfrm>
            <a:off x="566928" y="173736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STATUS: PRESSURED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3"/>
          <p:cNvSpPr/>
          <p:nvPr/>
        </p:nvSpPr>
        <p:spPr>
          <a:xfrm>
            <a:off x="2029968" y="1737360"/>
            <a:ext cx="1463040" cy="292608"/>
          </a:xfrm>
          <a:prstGeom prst="rect">
            <a:avLst/>
          </a:prstGeom>
          <a:solidFill>
            <a:srgbClr val="B03030"/>
          </a:solidFill>
          <a:ln cap="flat" cmpd="sng" w="12700">
            <a:solidFill>
              <a:srgbClr val="B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3"/>
          <p:cNvSpPr/>
          <p:nvPr/>
        </p:nvSpPr>
        <p:spPr>
          <a:xfrm>
            <a:off x="2029968" y="173736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ESCALATION: REVIEW SOON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3"/>
          <p:cNvSpPr/>
          <p:nvPr/>
        </p:nvSpPr>
        <p:spPr>
          <a:xfrm>
            <a:off x="594360" y="2121408"/>
            <a:ext cx="4800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Evidence Summary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3"/>
          <p:cNvSpPr/>
          <p:nvPr/>
        </p:nvSpPr>
        <p:spPr>
          <a:xfrm>
            <a:off x="566928" y="2350008"/>
            <a:ext cx="4846320" cy="475488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3"/>
          <p:cNvSpPr/>
          <p:nvPr/>
        </p:nvSpPr>
        <p:spPr>
          <a:xfrm>
            <a:off x="566928" y="2350008"/>
            <a:ext cx="54864" cy="475488"/>
          </a:xfrm>
          <a:prstGeom prst="rect">
            <a:avLst/>
          </a:prstGeom>
          <a:solidFill>
            <a:srgbClr val="5B3D9E"/>
          </a:solidFill>
          <a:ln cap="flat" cmpd="sng" w="12700">
            <a:solidFill>
              <a:srgbClr val="5B3D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3"/>
          <p:cNvSpPr/>
          <p:nvPr/>
        </p:nvSpPr>
        <p:spPr>
          <a:xfrm>
            <a:off x="676656" y="2386584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D9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5B3D9E"/>
                </a:solidFill>
                <a:latin typeface="Calibri"/>
                <a:ea typeface="Calibri"/>
                <a:cs typeface="Calibri"/>
                <a:sym typeface="Calibri"/>
              </a:rPr>
              <a:t>Macro (FRED)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676656" y="2560320"/>
            <a:ext cx="46268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10Y yield rose 42bps over 8 weeks → growth risk flag triggered. Macro risk score: ELEVATED.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566928" y="2880360"/>
            <a:ext cx="4846320" cy="475488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3"/>
          <p:cNvSpPr/>
          <p:nvPr/>
        </p:nvSpPr>
        <p:spPr>
          <a:xfrm>
            <a:off x="566928" y="2880360"/>
            <a:ext cx="54864" cy="475488"/>
          </a:xfrm>
          <a:prstGeom prst="rect">
            <a:avLst/>
          </a:prstGeom>
          <a:solidFill>
            <a:srgbClr val="5B3D9E"/>
          </a:solidFill>
          <a:ln cap="flat" cmpd="sng" w="12700">
            <a:solidFill>
              <a:srgbClr val="5B3D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3"/>
          <p:cNvSpPr/>
          <p:nvPr/>
        </p:nvSpPr>
        <p:spPr>
          <a:xfrm>
            <a:off x="676656" y="2916936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D9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5B3D9E"/>
                </a:solidFill>
                <a:latin typeface="Calibri"/>
                <a:ea typeface="Calibri"/>
                <a:cs typeface="Calibri"/>
                <a:sym typeface="Calibri"/>
              </a:rPr>
              <a:t>News Sentiment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3"/>
          <p:cNvSpPr/>
          <p:nvPr/>
        </p:nvSpPr>
        <p:spPr>
          <a:xfrm>
            <a:off x="676656" y="3090672"/>
            <a:ext cx="46268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14 of 20 recent headlines negative/mixed on NVDA outlook. Sentiment score: −0.31 (bearish threshold).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3"/>
          <p:cNvSpPr/>
          <p:nvPr/>
        </p:nvSpPr>
        <p:spPr>
          <a:xfrm>
            <a:off x="566928" y="3410712"/>
            <a:ext cx="4846320" cy="475488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3"/>
          <p:cNvSpPr/>
          <p:nvPr/>
        </p:nvSpPr>
        <p:spPr>
          <a:xfrm>
            <a:off x="566928" y="3410712"/>
            <a:ext cx="54864" cy="475488"/>
          </a:xfrm>
          <a:prstGeom prst="rect">
            <a:avLst/>
          </a:prstGeom>
          <a:solidFill>
            <a:srgbClr val="5B3D9E"/>
          </a:solidFill>
          <a:ln cap="flat" cmpd="sng" w="12700">
            <a:solidFill>
              <a:srgbClr val="5B3D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3"/>
          <p:cNvSpPr/>
          <p:nvPr/>
        </p:nvSpPr>
        <p:spPr>
          <a:xfrm>
            <a:off x="676656" y="344728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D9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5B3D9E"/>
                </a:solidFill>
                <a:latin typeface="Calibri"/>
                <a:ea typeface="Calibri"/>
                <a:cs typeface="Calibri"/>
                <a:sym typeface="Calibri"/>
              </a:rPr>
              <a:t>Filing (10-K)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676656" y="3621024"/>
            <a:ext cx="46268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Gross margin compression flag: YoY margins down 180bps. Operating cash flow ratio: 0.82 (below threshold).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566928" y="4041648"/>
            <a:ext cx="4846320" cy="530352"/>
          </a:xfrm>
          <a:prstGeom prst="rect">
            <a:avLst/>
          </a:prstGeom>
          <a:solidFill>
            <a:srgbClr val="FFF3F0"/>
          </a:solidFill>
          <a:ln cap="flat" cmpd="sng" w="9525">
            <a:solidFill>
              <a:srgbClr val="FFBB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3"/>
          <p:cNvSpPr/>
          <p:nvPr/>
        </p:nvSpPr>
        <p:spPr>
          <a:xfrm>
            <a:off x="713232" y="4087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03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03030"/>
                </a:solidFill>
                <a:latin typeface="Calibri"/>
                <a:ea typeface="Calibri"/>
                <a:cs typeface="Calibri"/>
                <a:sym typeface="Calibri"/>
              </a:rPr>
              <a:t>▸  PM ACTION REQUIRED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713232" y="427939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Approve · Override · Request more analysis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5715000" y="1234440"/>
            <a:ext cx="2880360" cy="731520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3"/>
          <p:cNvSpPr/>
          <p:nvPr/>
        </p:nvSpPr>
        <p:spPr>
          <a:xfrm>
            <a:off x="5715000" y="1234440"/>
            <a:ext cx="64008" cy="731520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3"/>
          <p:cNvSpPr/>
          <p:nvPr/>
        </p:nvSpPr>
        <p:spPr>
          <a:xfrm>
            <a:off x="5852160" y="132588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Generated in &lt; 3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5852160" y="1563624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From mandate input to formatted memo — fully automated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5715000" y="2075688"/>
            <a:ext cx="2880360" cy="731520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3"/>
          <p:cNvSpPr/>
          <p:nvPr/>
        </p:nvSpPr>
        <p:spPr>
          <a:xfrm>
            <a:off x="5715000" y="2075688"/>
            <a:ext cx="64008" cy="731520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3"/>
          <p:cNvSpPr/>
          <p:nvPr/>
        </p:nvSpPr>
        <p:spPr>
          <a:xfrm>
            <a:off x="5852160" y="2167128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Every claim sourced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5852160" y="2404872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Each evidence item traces back to a specific tool output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5715000" y="2916936"/>
            <a:ext cx="2880360" cy="731520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3"/>
          <p:cNvSpPr/>
          <p:nvPr/>
        </p:nvSpPr>
        <p:spPr>
          <a:xfrm>
            <a:off x="5715000" y="2916936"/>
            <a:ext cx="64008" cy="731520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3"/>
          <p:cNvSpPr/>
          <p:nvPr/>
        </p:nvSpPr>
        <p:spPr>
          <a:xfrm>
            <a:off x="5852160" y="3008376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Human retains control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5852160" y="32461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PM must approve before any portfolio action is taken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3"/>
          <p:cNvSpPr/>
          <p:nvPr/>
        </p:nvSpPr>
        <p:spPr>
          <a:xfrm>
            <a:off x="5715000" y="3758184"/>
            <a:ext cx="2880360" cy="731520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3"/>
          <p:cNvSpPr/>
          <p:nvPr/>
        </p:nvSpPr>
        <p:spPr>
          <a:xfrm>
            <a:off x="5715000" y="3758184"/>
            <a:ext cx="64008" cy="731520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3"/>
          <p:cNvSpPr/>
          <p:nvPr/>
        </p:nvSpPr>
        <p:spPr>
          <a:xfrm>
            <a:off x="5852160" y="3849624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Plain-language rationale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3"/>
          <p:cNvSpPr/>
          <p:nvPr/>
        </p:nvSpPr>
        <p:spPr>
          <a:xfrm>
            <a:off x="5852160" y="408736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No black-box outputs — PM understands the reasoning chain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MGTA 495  ·  Bridgewater AI Research Coworker  ·  Andy Liu · Will Zheng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4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E8853D">
              <a:alpha val="45098"/>
            </a:srgbClr>
          </a:solidFill>
          <a:ln cap="flat" cmpd="sng" w="12700">
            <a:solidFill>
              <a:srgbClr val="E8853D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4"/>
          <p:cNvSpPr/>
          <p:nvPr/>
        </p:nvSpPr>
        <p:spPr>
          <a:xfrm>
            <a:off x="8229600" y="3200400"/>
            <a:ext cx="1828800" cy="1828800"/>
          </a:xfrm>
          <a:prstGeom prst="ellipse">
            <a:avLst/>
          </a:prstGeom>
          <a:solidFill>
            <a:srgbClr val="C9952E">
              <a:alpha val="40000"/>
            </a:srgbClr>
          </a:solidFill>
          <a:ln cap="flat" cmpd="sng" w="12700">
            <a:solidFill>
              <a:srgbClr val="C9952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4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4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4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Future Roadmap — What Comes Next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4"/>
          <p:cNvSpPr/>
          <p:nvPr/>
        </p:nvSpPr>
        <p:spPr>
          <a:xfrm>
            <a:off x="457200" y="1234440"/>
            <a:ext cx="2743200" cy="3154680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4"/>
          <p:cNvSpPr/>
          <p:nvPr/>
        </p:nvSpPr>
        <p:spPr>
          <a:xfrm>
            <a:off x="457200" y="1234440"/>
            <a:ext cx="2743200" cy="548640"/>
          </a:xfrm>
          <a:prstGeom prst="rect">
            <a:avLst/>
          </a:prstGeom>
          <a:solidFill>
            <a:srgbClr val="2E7D52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4"/>
          <p:cNvSpPr/>
          <p:nvPr/>
        </p:nvSpPr>
        <p:spPr>
          <a:xfrm>
            <a:off x="548640" y="126187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4"/>
          <p:cNvSpPr/>
          <p:nvPr/>
        </p:nvSpPr>
        <p:spPr>
          <a:xfrm>
            <a:off x="548640" y="1527048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Complete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4"/>
          <p:cNvSpPr/>
          <p:nvPr/>
        </p:nvSpPr>
        <p:spPr>
          <a:xfrm>
            <a:off x="566928" y="1856232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Foundation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4"/>
          <p:cNvSpPr/>
          <p:nvPr/>
        </p:nvSpPr>
        <p:spPr>
          <a:xfrm>
            <a:off x="566928" y="2176272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7D5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52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85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FRED API + synthetic data pipeline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4"/>
          <p:cNvSpPr/>
          <p:nvPr/>
        </p:nvSpPr>
        <p:spPr>
          <a:xfrm>
            <a:off x="566928" y="2596896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7D5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52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85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Four connected skills (macro / news / filing / stress)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4"/>
          <p:cNvSpPr/>
          <p:nvPr/>
        </p:nvSpPr>
        <p:spPr>
          <a:xfrm>
            <a:off x="566928" y="3017520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7D5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52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85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MCP tool calling + RAG-grounded synthesis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4"/>
          <p:cNvSpPr/>
          <p:nvPr/>
        </p:nvSpPr>
        <p:spPr>
          <a:xfrm>
            <a:off x="566928" y="3438144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7D5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D52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85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NVDA thesis monitoring demo — 12/12 tests passed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4"/>
          <p:cNvSpPr/>
          <p:nvPr/>
        </p:nvSpPr>
        <p:spPr>
          <a:xfrm>
            <a:off x="3337560" y="1234440"/>
            <a:ext cx="2743200" cy="3154680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4"/>
          <p:cNvSpPr/>
          <p:nvPr/>
        </p:nvSpPr>
        <p:spPr>
          <a:xfrm>
            <a:off x="3337560" y="1234440"/>
            <a:ext cx="2743200" cy="548640"/>
          </a:xfrm>
          <a:prstGeom prst="rect">
            <a:avLst/>
          </a:prstGeom>
          <a:solidFill>
            <a:srgbClr val="5B3D9E"/>
          </a:solidFill>
          <a:ln cap="flat" cmpd="sng" w="12700">
            <a:solidFill>
              <a:srgbClr val="5B3D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4"/>
          <p:cNvSpPr/>
          <p:nvPr/>
        </p:nvSpPr>
        <p:spPr>
          <a:xfrm>
            <a:off x="3429000" y="126187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4"/>
          <p:cNvSpPr/>
          <p:nvPr/>
        </p:nvSpPr>
        <p:spPr>
          <a:xfrm>
            <a:off x="3429000" y="1527048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6–12 months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4"/>
          <p:cNvSpPr/>
          <p:nvPr/>
        </p:nvSpPr>
        <p:spPr>
          <a:xfrm>
            <a:off x="3447288" y="1856232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Live Data + Scale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3447288" y="2176272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3D9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3D9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85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Live Bloomberg / Reuters API integration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4"/>
          <p:cNvSpPr/>
          <p:nvPr/>
        </p:nvSpPr>
        <p:spPr>
          <a:xfrm>
            <a:off x="3447288" y="2596896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3D9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3D9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85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Multi-company parallel thesis monitoring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4"/>
          <p:cNvSpPr/>
          <p:nvPr/>
        </p:nvSpPr>
        <p:spPr>
          <a:xfrm>
            <a:off x="3447288" y="3017520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3D9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3D9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85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Expanded RAG corpus with more frameworks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3447288" y="3438144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3D9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3D9E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85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Real-time anomaly detection on position P&amp;L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4"/>
          <p:cNvSpPr/>
          <p:nvPr/>
        </p:nvSpPr>
        <p:spPr>
          <a:xfrm>
            <a:off x="6217920" y="1234440"/>
            <a:ext cx="2743200" cy="3154680"/>
          </a:xfrm>
          <a:prstGeom prst="rect">
            <a:avLst/>
          </a:prstGeom>
          <a:solidFill>
            <a:srgbClr val="F5F4F8"/>
          </a:solidFill>
          <a:ln cap="flat" cmpd="sng" w="9525">
            <a:solidFill>
              <a:srgbClr val="DD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4"/>
          <p:cNvSpPr/>
          <p:nvPr/>
        </p:nvSpPr>
        <p:spPr>
          <a:xfrm>
            <a:off x="6217920" y="1234440"/>
            <a:ext cx="2743200" cy="548640"/>
          </a:xfrm>
          <a:prstGeom prst="rect">
            <a:avLst/>
          </a:prstGeom>
          <a:solidFill>
            <a:srgbClr val="E8853D"/>
          </a:solidFill>
          <a:ln cap="flat" cmpd="sng" w="12700">
            <a:solidFill>
              <a:srgbClr val="E88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4"/>
          <p:cNvSpPr/>
          <p:nvPr/>
        </p:nvSpPr>
        <p:spPr>
          <a:xfrm>
            <a:off x="6309360" y="126187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4"/>
          <p:cNvSpPr/>
          <p:nvPr/>
        </p:nvSpPr>
        <p:spPr>
          <a:xfrm>
            <a:off x="6309360" y="1527048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12–24 months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4"/>
          <p:cNvSpPr/>
          <p:nvPr/>
        </p:nvSpPr>
        <p:spPr>
          <a:xfrm>
            <a:off x="6327648" y="1856232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Portfolio Intelligence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4"/>
          <p:cNvSpPr/>
          <p:nvPr/>
        </p:nvSpPr>
        <p:spPr>
          <a:xfrm>
            <a:off x="6327648" y="2176272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85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Portfolio-level AI synthesis across all active theses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4"/>
          <p:cNvSpPr/>
          <p:nvPr/>
        </p:nvSpPr>
        <p:spPr>
          <a:xfrm>
            <a:off x="6327648" y="2596896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85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Cross-thesis conflict detection and surfacing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4"/>
          <p:cNvSpPr/>
          <p:nvPr/>
        </p:nvSpPr>
        <p:spPr>
          <a:xfrm>
            <a:off x="6327648" y="3017520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85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PM briefing automation ahead of IC meetings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4"/>
          <p:cNvSpPr/>
          <p:nvPr/>
        </p:nvSpPr>
        <p:spPr>
          <a:xfrm>
            <a:off x="6327648" y="3438144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850" u="none" cap="none" strike="noStrike">
                <a:solidFill>
                  <a:srgbClr val="1E1E2E"/>
                </a:solidFill>
                <a:latin typeface="Calibri"/>
                <a:ea typeface="Calibri"/>
                <a:cs typeface="Calibri"/>
                <a:sym typeface="Calibri"/>
              </a:rPr>
              <a:t>Feedback loop: PM decisions improve future AI outputs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4"/>
          <p:cNvSpPr/>
          <p:nvPr/>
        </p:nvSpPr>
        <p:spPr>
          <a:xfrm>
            <a:off x="457200" y="4526280"/>
            <a:ext cx="8412480" cy="38404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4"/>
          <p:cNvSpPr/>
          <p:nvPr/>
        </p:nvSpPr>
        <p:spPr>
          <a:xfrm>
            <a:off x="594360" y="4544568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Across all phases:  Human governance model scales — all decision gates remain regardless of AI capability growth.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MGTA 495  ·  Bridgewater AI Research Coworker  ·  Andy Liu · Will Zheng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5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E8853D">
              <a:alpha val="85098"/>
            </a:srgbClr>
          </a:solidFill>
          <a:ln cap="flat" cmpd="sng" w="12700">
            <a:solidFill>
              <a:srgbClr val="E8853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5"/>
          <p:cNvSpPr/>
          <p:nvPr/>
        </p:nvSpPr>
        <p:spPr>
          <a:xfrm>
            <a:off x="8046720" y="2926080"/>
            <a:ext cx="2286000" cy="2286000"/>
          </a:xfrm>
          <a:prstGeom prst="ellipse">
            <a:avLst/>
          </a:prstGeom>
          <a:solidFill>
            <a:srgbClr val="C9952E">
              <a:alpha val="80000"/>
            </a:srgbClr>
          </a:solidFill>
          <a:ln cap="flat" cmpd="sng" w="12700">
            <a:solidFill>
              <a:srgbClr val="C9952E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5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THE OPPORTUNITY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5"/>
          <p:cNvSpPr/>
          <p:nvPr/>
        </p:nvSpPr>
        <p:spPr>
          <a:xfrm>
            <a:off x="548640" y="914400"/>
            <a:ext cx="6858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GenAI doesn't replace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Bridgewater's principles.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 executes them faster.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5"/>
          <p:cNvSpPr/>
          <p:nvPr/>
        </p:nvSpPr>
        <p:spPr>
          <a:xfrm>
            <a:off x="548640" y="3383280"/>
            <a:ext cx="1920240" cy="777240"/>
          </a:xfrm>
          <a:prstGeom prst="rect">
            <a:avLst/>
          </a:prstGeom>
          <a:solidFill>
            <a:srgbClr val="2A1F5E"/>
          </a:solidFill>
          <a:ln cap="flat" cmpd="sng" w="9525">
            <a:solidFill>
              <a:srgbClr val="4040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5"/>
          <p:cNvSpPr/>
          <p:nvPr/>
        </p:nvSpPr>
        <p:spPr>
          <a:xfrm>
            <a:off x="548640" y="3419856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38%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5"/>
          <p:cNvSpPr/>
          <p:nvPr/>
        </p:nvSpPr>
        <p:spPr>
          <a:xfrm>
            <a:off x="548640" y="378561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BBBD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BBBDD"/>
                </a:solidFill>
                <a:latin typeface="Calibri"/>
                <a:ea typeface="Calibri"/>
                <a:cs typeface="Calibri"/>
                <a:sym typeface="Calibri"/>
              </a:rPr>
              <a:t>Steps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BBBD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BBBDD"/>
                </a:solidFill>
                <a:latin typeface="Calibri"/>
                <a:ea typeface="Calibri"/>
                <a:cs typeface="Calibri"/>
                <a:sym typeface="Calibri"/>
              </a:rPr>
              <a:t>AI-automated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5"/>
          <p:cNvSpPr/>
          <p:nvPr/>
        </p:nvSpPr>
        <p:spPr>
          <a:xfrm>
            <a:off x="2651760" y="3383280"/>
            <a:ext cx="1920240" cy="777240"/>
          </a:xfrm>
          <a:prstGeom prst="rect">
            <a:avLst/>
          </a:prstGeom>
          <a:solidFill>
            <a:srgbClr val="2A1F5E"/>
          </a:solidFill>
          <a:ln cap="flat" cmpd="sng" w="9525">
            <a:solidFill>
              <a:srgbClr val="4040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5"/>
          <p:cNvSpPr/>
          <p:nvPr/>
        </p:nvSpPr>
        <p:spPr>
          <a:xfrm>
            <a:off x="2651760" y="3419856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5"/>
          <p:cNvSpPr/>
          <p:nvPr/>
        </p:nvSpPr>
        <p:spPr>
          <a:xfrm>
            <a:off x="2651760" y="378561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BBBD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BBBDD"/>
                </a:solidFill>
                <a:latin typeface="Calibri"/>
                <a:ea typeface="Calibri"/>
                <a:cs typeface="Calibri"/>
                <a:sym typeface="Calibri"/>
              </a:rPr>
              <a:t>Human gates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BBBD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BBBDD"/>
                </a:solidFill>
                <a:latin typeface="Calibri"/>
                <a:ea typeface="Calibri"/>
                <a:cs typeface="Calibri"/>
                <a:sym typeface="Calibri"/>
              </a:rPr>
              <a:t>preserved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5"/>
          <p:cNvSpPr/>
          <p:nvPr/>
        </p:nvSpPr>
        <p:spPr>
          <a:xfrm>
            <a:off x="4754880" y="3383280"/>
            <a:ext cx="1920240" cy="777240"/>
          </a:xfrm>
          <a:prstGeom prst="rect">
            <a:avLst/>
          </a:prstGeom>
          <a:solidFill>
            <a:srgbClr val="2A1F5E"/>
          </a:solidFill>
          <a:ln cap="flat" cmpd="sng" w="9525">
            <a:solidFill>
              <a:srgbClr val="4040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5"/>
          <p:cNvSpPr/>
          <p:nvPr/>
        </p:nvSpPr>
        <p:spPr>
          <a:xfrm>
            <a:off x="4754880" y="3419856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25×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4754880" y="378561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BBBD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BBBDD"/>
                </a:solidFill>
                <a:latin typeface="Calibri"/>
                <a:ea typeface="Calibri"/>
                <a:cs typeface="Calibri"/>
                <a:sym typeface="Calibri"/>
              </a:rPr>
              <a:t>More stress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BBBD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BBBDD"/>
                </a:solidFill>
                <a:latin typeface="Calibri"/>
                <a:ea typeface="Calibri"/>
                <a:cs typeface="Calibri"/>
                <a:sym typeface="Calibri"/>
              </a:rPr>
              <a:t>scenarios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5"/>
          <p:cNvSpPr/>
          <p:nvPr/>
        </p:nvSpPr>
        <p:spPr>
          <a:xfrm>
            <a:off x="6858000" y="3383280"/>
            <a:ext cx="1920240" cy="777240"/>
          </a:xfrm>
          <a:prstGeom prst="rect">
            <a:avLst/>
          </a:prstGeom>
          <a:solidFill>
            <a:srgbClr val="2A1F5E"/>
          </a:solidFill>
          <a:ln cap="flat" cmpd="sng" w="9525">
            <a:solidFill>
              <a:srgbClr val="4040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5"/>
          <p:cNvSpPr/>
          <p:nvPr/>
        </p:nvSpPr>
        <p:spPr>
          <a:xfrm>
            <a:off x="6858000" y="3419856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53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853D"/>
                </a:solidFill>
                <a:latin typeface="Calibri"/>
                <a:ea typeface="Calibri"/>
                <a:cs typeface="Calibri"/>
                <a:sym typeface="Calibri"/>
              </a:rPr>
              <a:t>57%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5"/>
          <p:cNvSpPr/>
          <p:nvPr/>
        </p:nvSpPr>
        <p:spPr>
          <a:xfrm>
            <a:off x="6858000" y="378561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BBBD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BBBDD"/>
                </a:solidFill>
                <a:latin typeface="Calibri"/>
                <a:ea typeface="Calibri"/>
                <a:cs typeface="Calibri"/>
                <a:sym typeface="Calibri"/>
              </a:rPr>
              <a:t>Faster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BBBD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BBBDD"/>
                </a:solidFill>
                <a:latin typeface="Calibri"/>
                <a:ea typeface="Calibri"/>
                <a:cs typeface="Calibri"/>
                <a:sym typeface="Calibri"/>
              </a:rPr>
              <a:t>research cycle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5"/>
          <p:cNvSpPr/>
          <p:nvPr/>
        </p:nvSpPr>
        <p:spPr>
          <a:xfrm>
            <a:off x="548640" y="477316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Andy Liu  ·  Will Zheng   |   MGTA 495 — AI Coworker &amp; Process Redesign   |   Rady School of Management, UC San Diego   |   June 2026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2026-06-04T08:16:22Z</dcterms:created>
  <dc:creator>PptxGenJS</dc:creator>
</cp:coreProperties>
</file>